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al Technical Review" id="{a4998f69-a767-7be8-e66c-6e652719e49a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Day-22 notebook Cells 3–6 (dataset shapes, split counts 1516/379/392), Day-22 architecture/config cells (filters 32, dropout 0.2, LR 5e-5, batch 32, 16,929 params; 3 residual blocks, kernel 3, dilations 1/2/4). Day-22 cells only build X_test; test predictions are first made in Day-23 Cell 1. LSTM/GRU comparison and Day-19 tuning are not in the supplied notebooks; they are shown as workflow steps only, with no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Day-23 Cell 1 (MAE 16.956742, RMSE 20.334396, sMAPE 24.9507 %, 0.386211 s total, 0.00098523 s/sample, 1014.99 samples/s), Cell 2 (66.13 KB = params x 4 bytes, an estimate, not a saved file size; total incl. optimizer state is 50,789), Cell 4 (actual vs predicted plot, extracted unchanged). IMPORTANT: Day-23 Cell 1 computes test_r2 = abs(r2_score(...)); the printed 0.733207 is therefore |R²| and is deliberately NOT shown. Recompute with r2_score(y_test, y_test_pred) and insert the signed value. Inference timing is a single predict() call on 392 samples in Colab with no warm-up; hardware not recorded. Baseline values are not in the supplied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Day-22 Cell 5 (split counts), Day-22 final training log (early stopping at epoch 18, restored best epoch 10, best val loss 522.475) and validation check (MAE 16.875757, RMSE 22.857713, R² 0.106387) vs the Day-19 reference values supplied in the brief (MAE 14.343437, RMSE 21.880802, R² 0.181139, best epoch ≈ 28). Test numbers from Day-23 Cell 1. Day-19 tuning and the LSTM/GRU comparison are not in the supplied notebooks. No saved model file/checkpoint appears in either notebook; the Day-23 notebook re-trains the TCN in-session, which is relevant to the reproducibility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VIEW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Day 24 · Final Technical Review · IIT Guwahati battery SoH · TCN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Final Battery SoH Prediction Pipeline</a:t>
            </a:r>
            <a:endParaRPr lang="en-US" sz="3000" dirty="0"/>
          </a:p>
        </p:txBody>
      </p:sp>
      <p:sp>
        <p:nvSpPr>
          <p:cNvPr id="3" name="Step 1 card"/>
          <p:cNvSpPr/>
          <p:nvPr/>
        </p:nvSpPr>
        <p:spPr>
          <a:xfrm>
            <a:off x="548640" y="1280160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tep 1 number"/>
          <p:cNvSpPr/>
          <p:nvPr/>
        </p:nvSpPr>
        <p:spPr>
          <a:xfrm>
            <a:off x="640080" y="1353312"/>
            <a:ext cx="310896" cy="31089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80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Battery 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IIT Guwahati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>
            <a:off x="795528" y="1664208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tep 2 card"/>
          <p:cNvSpPr/>
          <p:nvPr/>
        </p:nvSpPr>
        <p:spPr>
          <a:xfrm>
            <a:off x="548640" y="1847088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tep 2 number"/>
          <p:cNvSpPr/>
          <p:nvPr/>
        </p:nvSpPr>
        <p:spPr>
          <a:xfrm>
            <a:off x="640080" y="1920240"/>
            <a:ext cx="310896" cy="31089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847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Preprocessing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847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cleaned dataset v1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>
            <a:off x="795528" y="2231136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tep 3 card"/>
          <p:cNvSpPr/>
          <p:nvPr/>
        </p:nvSpPr>
        <p:spPr>
          <a:xfrm>
            <a:off x="548640" y="2414016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tep 3 number"/>
          <p:cNvSpPr/>
          <p:nvPr/>
        </p:nvSpPr>
        <p:spPr>
          <a:xfrm>
            <a:off x="640080" y="2487168"/>
            <a:ext cx="310896" cy="31089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24140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Sequence Generation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4140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X (2287, 10, 2)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>
            <a:off x="795528" y="2798064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tep 4 card"/>
          <p:cNvSpPr/>
          <p:nvPr/>
        </p:nvSpPr>
        <p:spPr>
          <a:xfrm>
            <a:off x="548640" y="2980944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Step 4 number"/>
          <p:cNvSpPr/>
          <p:nvPr/>
        </p:nvSpPr>
        <p:spPr>
          <a:xfrm>
            <a:off x="640080" y="3054096"/>
            <a:ext cx="310896" cy="31089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29809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Frozen Train / Validation / Test Split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1516 / 379 / 392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>
            <a:off x="795528" y="3364992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7" name="Step 5 card"/>
          <p:cNvSpPr/>
          <p:nvPr/>
        </p:nvSpPr>
        <p:spPr>
          <a:xfrm>
            <a:off x="548640" y="3547872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Step 5 number"/>
          <p:cNvSpPr/>
          <p:nvPr/>
        </p:nvSpPr>
        <p:spPr>
          <a:xfrm>
            <a:off x="640080" y="3621024"/>
            <a:ext cx="310896" cy="31089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" y="3547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LSTM / GRU / TCN Evaluation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3547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architecture comparison</a:t>
            </a:r>
            <a:endParaRPr lang="en-US" sz="1200" dirty="0"/>
          </a:p>
        </p:txBody>
      </p:sp>
      <p:sp>
        <p:nvSpPr>
          <p:cNvPr id="32" name="Arrow 5"/>
          <p:cNvSpPr/>
          <p:nvPr/>
        </p:nvSpPr>
        <p:spPr>
          <a:xfrm>
            <a:off x="795528" y="3931920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Step 6 card"/>
          <p:cNvSpPr/>
          <p:nvPr/>
        </p:nvSpPr>
        <p:spPr>
          <a:xfrm>
            <a:off x="548640" y="4114800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Step 6 number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TCN Hyperparameter Selection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9834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validation-based (Day 19)</a:t>
            </a:r>
            <a:endParaRPr lang="en-US" sz="1200" dirty="0"/>
          </a:p>
        </p:txBody>
      </p:sp>
      <p:sp>
        <p:nvSpPr>
          <p:cNvPr id="38" name="Arrow 6"/>
          <p:cNvSpPr/>
          <p:nvPr/>
        </p:nvSpPr>
        <p:spPr>
          <a:xfrm>
            <a:off x="795528" y="4498848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9" name="Step 7 card"/>
          <p:cNvSpPr/>
          <p:nvPr/>
        </p:nvSpPr>
        <p:spPr>
          <a:xfrm>
            <a:off x="548640" y="4681728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0" name="Step 7 number"/>
          <p:cNvSpPr/>
          <p:nvPr/>
        </p:nvSpPr>
        <p:spPr>
          <a:xfrm>
            <a:off x="640080" y="4754880"/>
            <a:ext cx="310896" cy="31089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681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Final Frozen TCN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983480" y="4681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16,929 parameters</a:t>
            </a:r>
            <a:endParaRPr lang="en-US" sz="1200" dirty="0"/>
          </a:p>
        </p:txBody>
      </p:sp>
      <p:sp>
        <p:nvSpPr>
          <p:cNvPr id="44" name="Arrow 7"/>
          <p:cNvSpPr/>
          <p:nvPr/>
        </p:nvSpPr>
        <p:spPr>
          <a:xfrm>
            <a:off x="795528" y="5065776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5" name="Step 8 card"/>
          <p:cNvSpPr/>
          <p:nvPr/>
        </p:nvSpPr>
        <p:spPr>
          <a:xfrm>
            <a:off x="548640" y="5248656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6" name="Step 8 number"/>
          <p:cNvSpPr/>
          <p:nvPr/>
        </p:nvSpPr>
        <p:spPr>
          <a:xfrm>
            <a:off x="640080" y="5321808"/>
            <a:ext cx="310896" cy="31089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8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115568" y="52486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Held-Out Test Prediction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983480" y="52486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392 samples (Day 23)</a:t>
            </a:r>
            <a:endParaRPr lang="en-US" sz="1200" dirty="0"/>
          </a:p>
        </p:txBody>
      </p:sp>
      <p:sp>
        <p:nvSpPr>
          <p:cNvPr id="50" name="Arrow 8"/>
          <p:cNvSpPr/>
          <p:nvPr/>
        </p:nvSpPr>
        <p:spPr>
          <a:xfrm>
            <a:off x="795528" y="5632704"/>
            <a:ext cx="0" cy="25603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1" name="Step 9 card"/>
          <p:cNvSpPr/>
          <p:nvPr/>
        </p:nvSpPr>
        <p:spPr>
          <a:xfrm>
            <a:off x="548640" y="5815584"/>
            <a:ext cx="70408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2" name="Step 9 number"/>
          <p:cNvSpPr/>
          <p:nvPr/>
        </p:nvSpPr>
        <p:spPr>
          <a:xfrm>
            <a:off x="640080" y="5888736"/>
            <a:ext cx="310896" cy="31089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5888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115568" y="5815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SoH Prediction + Error Analysis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4983480" y="58155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MAE · RMSE · sMAPE</a:t>
            </a:r>
            <a:endParaRPr lang="en-US" sz="1200" dirty="0"/>
          </a:p>
        </p:txBody>
      </p:sp>
      <p:sp>
        <p:nvSpPr>
          <p:cNvPr id="56" name="Summary card"/>
          <p:cNvSpPr/>
          <p:nvPr/>
        </p:nvSpPr>
        <p:spPr>
          <a:xfrm>
            <a:off x="7909560" y="1280160"/>
            <a:ext cx="3730752" cy="393192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38160" y="137160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Technical summary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8138160" y="18470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Dataset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281160" y="184708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IIT Guwahati battery dataset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8138160" y="2176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Input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281160" y="217627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 time steps × 2 features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8138160" y="25054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Target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9281160" y="25054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State of Health (SoH)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813816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Model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9281160" y="283464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TCN (final)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8138160" y="31638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Blocks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9281160" y="316382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 residual (dil. 1, 2, 4)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138160" y="3493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Filters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9281160" y="349300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32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8138160" y="3822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Dropout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9281160" y="38221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0.2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8138160" y="41513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Learn. rate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9281160" y="41513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 × 10</a:t>
            </a:r>
            <a:pPr indent="0" marL="0">
              <a:buNone/>
            </a:pPr>
            <a:r>
              <a:rPr lang="en-US" sz="1300" b="1" baseline="30000" dirty="0">
                <a:solidFill>
                  <a:schemeClr val="tx1"/>
                </a:solidFill>
              </a:rPr>
              <a:t>−5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8138160" y="4480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Batch size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9281160" y="44805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32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8138160" y="4809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Parameters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9281160" y="48097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16,929</a:t>
            </a:r>
            <a:endParaRPr lang="en-US" sz="1300" dirty="0"/>
          </a:p>
        </p:txBody>
      </p:sp>
      <p:sp>
        <p:nvSpPr>
          <p:cNvPr id="78" name="Held-out callout"/>
          <p:cNvSpPr/>
          <p:nvPr/>
        </p:nvSpPr>
        <p:spPr>
          <a:xfrm>
            <a:off x="7909560" y="5394960"/>
            <a:ext cx="3730752" cy="877824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092440" y="5394960"/>
            <a:ext cx="33649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 set held 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392 samples, first evaluated in final validation (Day 23).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Final Validation &amp; Performance</a:t>
            </a:r>
            <a:endParaRPr lang="en-US" sz="3000" dirty="0"/>
          </a:p>
        </p:txBody>
      </p:sp>
      <p:sp>
        <p:nvSpPr>
          <p:cNvPr id="3" name="Metric Test MAE"/>
          <p:cNvSpPr/>
          <p:nvPr/>
        </p:nvSpPr>
        <p:spPr>
          <a:xfrm>
            <a:off x="548640" y="1234440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61872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Test MAE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4721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16.96</a:t>
            </a:r>
            <a:endParaRPr lang="en-US" sz="1800" dirty="0"/>
          </a:p>
        </p:txBody>
      </p:sp>
      <p:sp>
        <p:nvSpPr>
          <p:cNvPr id="6" name="Metric Test RMSE"/>
          <p:cNvSpPr/>
          <p:nvPr/>
        </p:nvSpPr>
        <p:spPr>
          <a:xfrm>
            <a:off x="2514600" y="1234440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24328" y="1261872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Test RMSE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24328" y="14721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20.33</a:t>
            </a:r>
            <a:endParaRPr lang="en-US" sz="1800" dirty="0"/>
          </a:p>
        </p:txBody>
      </p:sp>
      <p:sp>
        <p:nvSpPr>
          <p:cNvPr id="9" name="Metric Test R² (as in notebook*)"/>
          <p:cNvSpPr/>
          <p:nvPr/>
        </p:nvSpPr>
        <p:spPr>
          <a:xfrm>
            <a:off x="548640" y="1929384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956816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Test R² (as in notebook*)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1671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0.733</a:t>
            </a:r>
            <a:endParaRPr lang="en-US" sz="1800" dirty="0"/>
          </a:p>
        </p:txBody>
      </p:sp>
      <p:sp>
        <p:nvSpPr>
          <p:cNvPr id="12" name="Metric Test sMAPE"/>
          <p:cNvSpPr/>
          <p:nvPr/>
        </p:nvSpPr>
        <p:spPr>
          <a:xfrm>
            <a:off x="2514600" y="1929384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24328" y="1956816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Test sMAPE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24328" y="21671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24.95 %</a:t>
            </a:r>
            <a:endParaRPr lang="en-US" sz="1800" dirty="0"/>
          </a:p>
        </p:txBody>
      </p:sp>
      <p:sp>
        <p:nvSpPr>
          <p:cNvPr id="15" name="Metric Inference (392 samples)"/>
          <p:cNvSpPr/>
          <p:nvPr/>
        </p:nvSpPr>
        <p:spPr>
          <a:xfrm>
            <a:off x="548640" y="2624328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651760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Inference (392 samples)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862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0.386 s</a:t>
            </a:r>
            <a:endParaRPr lang="en-US" sz="1800" dirty="0"/>
          </a:p>
        </p:txBody>
      </p:sp>
      <p:sp>
        <p:nvSpPr>
          <p:cNvPr id="18" name="Metric Per sample"/>
          <p:cNvSpPr/>
          <p:nvPr/>
        </p:nvSpPr>
        <p:spPr>
          <a:xfrm>
            <a:off x="2514600" y="2624328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24328" y="2651760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Per sample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24328" y="2862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≈ 0.99 ms</a:t>
            </a:r>
            <a:endParaRPr lang="en-US" sz="1800" dirty="0"/>
          </a:p>
        </p:txBody>
      </p:sp>
      <p:sp>
        <p:nvSpPr>
          <p:cNvPr id="21" name="Metric Model size (float32 est.)"/>
          <p:cNvSpPr/>
          <p:nvPr/>
        </p:nvSpPr>
        <p:spPr>
          <a:xfrm>
            <a:off x="548640" y="3319272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346704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Model size (float32 est.)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557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≈ 66.1 KB</a:t>
            </a:r>
            <a:endParaRPr lang="en-US" sz="1800" dirty="0"/>
          </a:p>
        </p:txBody>
      </p:sp>
      <p:sp>
        <p:nvSpPr>
          <p:cNvPr id="24" name="Metric Parameters"/>
          <p:cNvSpPr/>
          <p:nvPr/>
        </p:nvSpPr>
        <p:spPr>
          <a:xfrm>
            <a:off x="2514600" y="3319272"/>
            <a:ext cx="1874520" cy="603504"/>
          </a:xfrm>
          <a:prstGeom prst="roundRect">
            <a:avLst>
              <a:gd name="adj" fmla="val 106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24328" y="3346704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Parameters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24328" y="3557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16,929</a:t>
            </a:r>
            <a:endParaRPr lang="en-US" sz="1800" dirty="0"/>
          </a:p>
        </p:txBody>
      </p:sp>
      <p:pic>
        <p:nvPicPr>
          <p:cNvPr id="27" name="Image 0" descr="Scatter plot of actual versus predicted SoH on the held-out test set for the final TC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34440"/>
            <a:ext cx="3438144" cy="2578608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4663440" y="3840480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Actual vs predicted SoH — test set (Day 23)</a:t>
            </a:r>
            <a:endParaRPr lang="en-US" sz="1000" dirty="0"/>
          </a:p>
        </p:txBody>
      </p:sp>
      <p:graphicFrame>
        <p:nvGraphicFramePr>
          <p:cNvPr id="3" name="Baseline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Final TCN (test)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16.96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20.33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R²*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0.733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Parameters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16,929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Inference time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0.386 s / 392 samples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Observations card"/>
          <p:cNvSpPr/>
          <p:nvPr/>
        </p:nvSpPr>
        <p:spPr>
          <a:xfrm>
            <a:off x="8229600" y="1234440"/>
            <a:ext cx="3410712" cy="2578608"/>
          </a:xfrm>
          <a:prstGeom prst="roundRect">
            <a:avLst>
              <a:gd name="adj" fmla="val 283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412480" y="1325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 from the plot (qualitative)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8412480" y="1783080"/>
            <a:ext cx="30449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Predictions form two bands, off the diagonal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Largest misses at actual SoH ≈ 0–45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8412480" y="320040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*R² as printed in Day-23 notebook; Cell 1 applies abs() to it.</a:t>
            </a:r>
            <a:endParaRPr lang="en-US" sz="1100" dirty="0"/>
          </a:p>
        </p:txBody>
      </p:sp>
      <p:sp>
        <p:nvSpPr>
          <p:cNvPr id="34" name="Interpretation banner"/>
          <p:cNvSpPr/>
          <p:nvPr/>
        </p:nvSpPr>
        <p:spPr>
          <a:xfrm>
            <a:off x="548640" y="5943600"/>
            <a:ext cx="11091672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31520" y="5943600"/>
            <a:ext cx="10725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Compact (16,929 params, ≈ 66 KB) and fast (≈ 1 ms/sample); accuracy claim pending baseline comparison.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Final Technical Review — Conclusions &amp; Action Items</a:t>
            </a:r>
            <a:endParaRPr lang="en-US" sz="3000" dirty="0"/>
          </a:p>
        </p:txBody>
      </p:sp>
      <p:sp>
        <p:nvSpPr>
          <p:cNvPr id="3" name="Section A card"/>
          <p:cNvSpPr/>
          <p:nvPr/>
        </p:nvSpPr>
        <p:spPr>
          <a:xfrm>
            <a:off x="548640" y="1234440"/>
            <a:ext cx="3566160" cy="50749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ection A badge"/>
          <p:cNvSpPr/>
          <p:nvPr/>
        </p:nvSpPr>
        <p:spPr>
          <a:xfrm>
            <a:off x="731520" y="138988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344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Key conclusions</a:t>
            </a:r>
            <a:endParaRPr lang="en-US" sz="1700" dirty="0"/>
          </a:p>
        </p:txBody>
      </p:sp>
      <p:sp>
        <p:nvSpPr>
          <p:cNvPr id="7" name="Section B card"/>
          <p:cNvSpPr/>
          <p:nvPr/>
        </p:nvSpPr>
        <p:spPr>
          <a:xfrm>
            <a:off x="4311396" y="1234440"/>
            <a:ext cx="3566160" cy="50749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ection B badge"/>
          <p:cNvSpPr/>
          <p:nvPr/>
        </p:nvSpPr>
        <p:spPr>
          <a:xfrm>
            <a:off x="4494276" y="138988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4276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69764" y="1344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Remaining technical questions</a:t>
            </a:r>
            <a:endParaRPr lang="en-US" sz="1700" dirty="0"/>
          </a:p>
        </p:txBody>
      </p:sp>
      <p:sp>
        <p:nvSpPr>
          <p:cNvPr id="11" name="Section C card"/>
          <p:cNvSpPr/>
          <p:nvPr/>
        </p:nvSpPr>
        <p:spPr>
          <a:xfrm>
            <a:off x="8074152" y="1234440"/>
            <a:ext cx="3566160" cy="50749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Section C badge"/>
          <p:cNvSpPr/>
          <p:nvPr/>
        </p:nvSpPr>
        <p:spPr>
          <a:xfrm>
            <a:off x="8257032" y="1389888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57032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1344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Mentor corrections / actions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965960"/>
            <a:ext cx="316382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Method: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TCN selected via validation-based tuning (Day 19)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Frozen split: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1516 / 379 / 392 stored in the dataset file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Held-out test (n = 392):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MAE 16.96 · RMSE 20.33 · sMAPE 24.95 %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Complexity: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16,929 params (≈ 66 KB); ≈ 1 ms/sample in one run</a:t>
            </a:r>
            <a:endParaRPr lang="en-US" sz="1500" dirty="0"/>
          </a:p>
        </p:txBody>
      </p:sp>
      <p:sp>
        <p:nvSpPr>
          <p:cNvPr id="16" name="Accuracy caveat"/>
          <p:cNvSpPr/>
          <p:nvPr/>
        </p:nvSpPr>
        <p:spPr>
          <a:xfrm>
            <a:off x="749808" y="5074920"/>
            <a:ext cx="3163824" cy="1005840"/>
          </a:xfrm>
          <a:prstGeom prst="roundRect">
            <a:avLst>
              <a:gd name="adj" fmla="val 6364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507492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Accuracy claim withheld: baseline comparison is still pending.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12564" y="1965960"/>
            <a:ext cx="316382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Low-SoH / near-EOL: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plot shows large misses at actual SoH ≈ 0–45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Test R²: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notebook value uses abs(); confirm signed value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Day-19 vs Day-22: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 MAE 14.34 → 16.88, best epoch ≈ 28 → 10; why?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Per-cell robustness: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battery_id available, breakdown not yet run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Complexity vs baseline: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baseline results pending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Before real-world use: </a:t>
            </a:r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what further validation is required?</a:t>
            </a:r>
            <a:endParaRPr lang="en-US" sz="1400" dirty="0"/>
          </a:p>
        </p:txBody>
      </p:sp>
      <p:sp>
        <p:nvSpPr>
          <p:cNvPr id="19" name="Checkbox 1"/>
          <p:cNvSpPr/>
          <p:nvPr/>
        </p:nvSpPr>
        <p:spPr>
          <a:xfrm>
            <a:off x="8275320" y="2029968"/>
            <a:ext cx="219456" cy="219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04504" y="1965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final test metrics</a:t>
            </a:r>
            <a:endParaRPr lang="en-US" sz="1400" dirty="0"/>
          </a:p>
        </p:txBody>
      </p:sp>
      <p:sp>
        <p:nvSpPr>
          <p:cNvPr id="21" name="Checkbox 2"/>
          <p:cNvSpPr/>
          <p:nvPr/>
        </p:nvSpPr>
        <p:spPr>
          <a:xfrm>
            <a:off x="8275320" y="2596896"/>
            <a:ext cx="219456" cy="219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04504" y="2532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error-analysis requirements</a:t>
            </a:r>
            <a:endParaRPr lang="en-US" sz="1400" dirty="0"/>
          </a:p>
        </p:txBody>
      </p:sp>
      <p:sp>
        <p:nvSpPr>
          <p:cNvPr id="23" name="Checkbox 3"/>
          <p:cNvSpPr/>
          <p:nvPr/>
        </p:nvSpPr>
        <p:spPr>
          <a:xfrm>
            <a:off x="8275320" y="3163824"/>
            <a:ext cx="219456" cy="219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04504" y="30998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low-SoH performance</a:t>
            </a:r>
            <a:endParaRPr lang="en-US" sz="1400" dirty="0"/>
          </a:p>
        </p:txBody>
      </p:sp>
      <p:sp>
        <p:nvSpPr>
          <p:cNvPr id="25" name="Checkbox 4"/>
          <p:cNvSpPr/>
          <p:nvPr/>
        </p:nvSpPr>
        <p:spPr>
          <a:xfrm>
            <a:off x="8275320" y="3730752"/>
            <a:ext cx="219456" cy="219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04504" y="36667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baseline comparison</a:t>
            </a:r>
            <a:endParaRPr lang="en-US" sz="1400" dirty="0"/>
          </a:p>
        </p:txBody>
      </p:sp>
      <p:sp>
        <p:nvSpPr>
          <p:cNvPr id="27" name="Checkbox 5"/>
          <p:cNvSpPr/>
          <p:nvPr/>
        </p:nvSpPr>
        <p:spPr>
          <a:xfrm>
            <a:off x="8275320" y="4297680"/>
            <a:ext cx="219456" cy="219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04504" y="42336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pipeline reproducibility</a:t>
            </a:r>
            <a:endParaRPr lang="en-US" sz="1400" dirty="0"/>
          </a:p>
        </p:txBody>
      </p:sp>
      <p:sp>
        <p:nvSpPr>
          <p:cNvPr id="29" name="Checkbox 6"/>
          <p:cNvSpPr/>
          <p:nvPr/>
        </p:nvSpPr>
        <p:spPr>
          <a:xfrm>
            <a:off x="8275320" y="4864608"/>
            <a:ext cx="219456" cy="219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04504" y="4800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 mentor feedback</a:t>
            </a:r>
            <a:endParaRPr lang="en-US" sz="1400" dirty="0"/>
          </a:p>
        </p:txBody>
      </p:sp>
      <p:sp>
        <p:nvSpPr>
          <p:cNvPr id="31" name="Checkbox 7"/>
          <p:cNvSpPr/>
          <p:nvPr/>
        </p:nvSpPr>
        <p:spPr>
          <a:xfrm>
            <a:off x="8275320" y="5431536"/>
            <a:ext cx="219456" cy="21945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04504" y="5367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Apply corrections before submission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24 Technical Review">
  <a:themeElements>
    <a:clrScheme name="Day24 Technical Review">
      <a:dk1>
        <a:srgbClr val="1B2430"/>
      </a:dk1>
      <a:lt1>
        <a:srgbClr val="FFFFFF"/>
      </a:lt1>
      <a:dk2>
        <a:srgbClr val="0F4C5C"/>
      </a:dk2>
      <a:lt2>
        <a:srgbClr val="EDF3F5"/>
      </a:lt2>
      <a:accent1>
        <a:srgbClr val="0F4C5C"/>
      </a:accent1>
      <a:accent2>
        <a:srgbClr val="2A9D8F"/>
      </a:accent2>
      <a:accent3>
        <a:srgbClr val="5C6B7A"/>
      </a:accent3>
      <a:accent4>
        <a:srgbClr val="A86400"/>
      </a:accent4>
      <a:accent5>
        <a:srgbClr val="B03A2E"/>
      </a:accent5>
      <a:accent6>
        <a:srgbClr val="8FA8B5"/>
      </a:accent6>
      <a:hlink>
        <a:srgbClr val="0F4C5C"/>
      </a:hlink>
      <a:folHlink>
        <a:srgbClr val="5C6B7A"/>
      </a:folHlink>
    </a:clrScheme>
    <a:fontScheme name="Day24 Technical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24 — Final Technical Review</dc:title>
  <dc:subject>PptxGenJS Presentation</dc:subject>
  <dc:creator>PptxGenJS</dc:creator>
  <cp:lastModifiedBy>PptxGenJS</cp:lastModifiedBy>
  <cp:revision>1</cp:revision>
  <dcterms:created xsi:type="dcterms:W3CDTF">2026-10-24T13:03:05Z</dcterms:created>
  <dcterms:modified xsi:type="dcterms:W3CDTF">2026-10-24T13:03:05Z</dcterms:modified>
</cp:coreProperties>
</file>