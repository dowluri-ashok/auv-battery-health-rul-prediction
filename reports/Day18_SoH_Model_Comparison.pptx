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y 18 Mentor Review" id="{9649ca6b-42f3-e9c9-2c93-3bdeed3851b8}">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E4C59"/>
                </a:solidFill>
                <a:latin typeface="+mn-lt"/>
              </a:defRPr>
            </a:pPr>
            <a:r>
              <a:rPr sz="1200" b="0" i="0" u="none" strike="noStrike">
                <a:solidFill>
                  <a:srgbClr val="3E4C59"/>
                </a:solidFill>
                <a:latin typeface="+mn-lt"/>
              </a:rPr>
              <a:t>Test MAE and RMSE (lower is better)</a:t>
            </a:r>
          </a:p>
        </c:rich>
      </c:tx>
      <c:layout/>
      <c:overlay val="0"/>
    </c:title>
    <c:autoTitleDeleted val="0"/>
    <c:plotArea>
      <c:layout/>
      <c:barChart>
        <c:barDir val="col"/>
        <c:grouping val="clustered"/>
        <c:varyColors val="0"/>
        <c:ser>
          <c:idx val="0"/>
          <c:order val="0"/>
          <c:tx>
            <c:strRef>
              <c:f>Sheet1!$B$1</c:f>
              <c:strCache>
                <c:ptCount val="1"/>
                <c:pt idx="0">
                  <c:v>MAE</c:v>
                </c:pt>
              </c:strCache>
            </c:strRef>
          </c:tx>
          <c:spPr>
            <a:solidFill>
              <a:srgbClr val="3E4C59"/>
            </a:solidFill>
            <a:effectLst/>
          </c:spPr>
          <c:invertIfNegative val="0"/>
          <c:dLbls>
            <c:numFmt formatCode="0.0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LSTM</c:v>
                  </c:pt>
                  <c:pt idx="1">
                    <c:v>GRU</c:v>
                  </c:pt>
                  <c:pt idx="2">
                    <c:v>TCN</c:v>
                  </c:pt>
                </c:lvl>
              </c:multiLvlStrCache>
            </c:multiLvlStrRef>
          </c:cat>
          <c:val>
            <c:numRef>
              <c:f>Sheet1!$B$2:$B$4</c:f>
              <c:numCache>
                <c:formatCode>General</c:formatCode>
                <c:ptCount val="3"/>
                <c:pt idx="0">
                  <c:v>0.154379</c:v>
                </c:pt>
                <c:pt idx="1">
                  <c:v>0.143874</c:v>
                </c:pt>
                <c:pt idx="2">
                  <c:v>0.135121</c:v>
                </c:pt>
              </c:numCache>
            </c:numRef>
          </c:val>
        </c:ser>
        <c:ser>
          <c:idx val="1"/>
          <c:order val="1"/>
          <c:tx>
            <c:strRef>
              <c:f>Sheet1!$C$1</c:f>
              <c:strCache>
                <c:ptCount val="1"/>
                <c:pt idx="0">
                  <c:v>RMSE</c:v>
                </c:pt>
              </c:strCache>
            </c:strRef>
          </c:tx>
          <c:spPr>
            <a:solidFill>
              <a:srgbClr val="1F7A70"/>
            </a:solidFill>
            <a:effectLst/>
          </c:spPr>
          <c:invertIfNegative val="0"/>
          <c:dLbls>
            <c:numFmt formatCode="0.0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LSTM</c:v>
                  </c:pt>
                  <c:pt idx="1">
                    <c:v>GRU</c:v>
                  </c:pt>
                  <c:pt idx="2">
                    <c:v>TCN</c:v>
                  </c:pt>
                </c:lvl>
              </c:multiLvlStrCache>
            </c:multiLvlStrRef>
          </c:cat>
          <c:val>
            <c:numRef>
              <c:f>Sheet1!$C$2:$C$4</c:f>
              <c:numCache>
                <c:formatCode>General</c:formatCode>
                <c:ptCount val="3"/>
                <c:pt idx="0">
                  <c:v>0.198999</c:v>
                </c:pt>
                <c:pt idx="1">
                  <c:v>0.195698</c:v>
                </c:pt>
                <c:pt idx="2">
                  <c:v>0.184981</c:v>
                </c:pt>
              </c:numCache>
            </c:numRef>
          </c:val>
        </c:ser>
        <c:dLbls>
          <c:numFmt formatCode="0.0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noMultiLvlLbl val="1"/>
      </c:catAx>
      <c:valAx>
        <c:axId val="2094734552"/>
        <c:scaling>
          <c:orientation val="minMax"/>
          <c:max val="0.25"/>
          <c:min val="0"/>
        </c:scaling>
        <c:delete val="0"/>
        <c:axPos val="l"/>
        <c:majorGridlines>
          <c:spPr>
            <a:ln w="9525" cap="flat">
              <a:solidFill>
                <a:srgbClr val="E4E8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E4C59"/>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100">
              <a:solidFill>
                <a:srgbClr val="3E4C5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What models did I build?
The goal of Days 15 to 17 was to estimate battery State of Health with three sequence models: LSTM, GRU and TCN, all trained on the same data. The dataset is sequences_v1.npz with 2,287 sequences, each 10 time steps by 2 features, split into 1,516 train, 379 validation and 392 test sequences. SoH was scaled from 0-100 to 0-1, and every model used MSE loss, Adam at learning rate 0.001, batch size 32, 30 epochs, keeping the checkpoint with the best validation loss. LSTM and GRU are the same design - two recurrent layers with hidden size 64, last time step, then a small fully connected head - while the TCN uses three dilated residual temporal blocks with channels 96, 96, 64, kernel 3 and dilations 1, 2, 4 before flattening into a 640-to-64-to-1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How did they perform?
This is the single comparison table from the three notebooks, all on the same 392-sequence test set. TCN is best on MAE, RMSE and R-squared, with MAE 0.135, followed by GRU at 0.144 and LSTM at 0.154, but the gaps are small. The important honest point is that R-squared is negative for all three, so none of them beats simply predicting the mean SoH yet. On cost, GRU has 40,129 parameters and TCN has 162,337, roughly four times larger; only the TCN training time of 47.4 seconds was recorded, and inference time and model file size were not recorded for any model. MAPE is shown but I would not use it for ranking, because the SoH targets include zero values and the LSTM notebook used a different MAPE formula from the GRU and TCN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What did I learn and what next?
TCN is the best predictor of the three, and GRU is the lightest recorded model, with 40,129 parameters; LSTM is the weakest on error and R-squared, so I keep it only as a baseline. The main limitation is that every R-squared is negative, and the loss curves show LSTM and GRU reach their best validation loss at epoch 2 and then get worse, while TCN's validation loss swings between 0.053 and 0.083. In the predicted-versus-actual plots all three models place predictions in a few flat bands instead of following actual SoH, and sequences with SoH near zero are predicted near 0.5. We also have only 2 input features, a sequence length of 10, one run per model, and no inference-time or model-size measurements. Next I would carry TCN and GRU into deeper experiments, starting by fixing the evaluation - one MAPE definition, timing and model size recorded - and then diagnosing the flat-band behaviour and early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8229600" cy="228600"/>
          </a:xfrm>
          <a:prstGeom prst="rect">
            <a:avLst/>
          </a:prstGeom>
          <a:noFill/>
          <a:ln/>
        </p:spPr>
        <p:txBody>
          <a:bodyPr wrap="square" lIns="0" tIns="0" rIns="0" bIns="0" rtlCol="0" anchor="ctr"/>
          <a:lstStyle/>
          <a:p>
            <a:pPr indent="0" marL="0">
              <a:buNone/>
            </a:pPr>
            <a:r>
              <a:rPr lang="en-US" sz="1000" dirty="0">
                <a:solidFill>
                  <a:schemeClr val="tx2"/>
                </a:solidFill>
              </a:rPr>
              <a:t>Day 18  |  Model / Method Comparison + Mentor Review  |  Battery SoH Estimation</a:t>
            </a:r>
            <a:endParaRPr lang="en-US" sz="1000" dirty="0"/>
          </a:p>
        </p:txBody>
      </p:sp>
      <p:sp>
        <p:nvSpPr>
          <p:cNvPr id="3" name="Text 1"/>
          <p:cNvSpPr/>
          <p:nvPr>
            <p:ph idx="101" type="title" hasCustomPrompt="1"/>
          </p:nvPr>
        </p:nvSpPr>
        <p:spPr>
          <a:xfrm>
            <a:off x="548640" y="320040"/>
            <a:ext cx="11091672"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SoH Estimation — Model Development</a:t>
            </a:r>
            <a:endParaRPr lang="en-US" sz="3400" dirty="0"/>
          </a:p>
        </p:txBody>
      </p:sp>
      <p:sp>
        <p:nvSpPr>
          <p:cNvPr id="3" name="Text 1"/>
          <p:cNvSpPr txBox="1"/>
          <p:nvPr/>
        </p:nvSpPr>
        <p:spPr>
          <a:xfrm>
            <a:off x="548640" y="1051560"/>
            <a:ext cx="11091672" cy="365760"/>
          </a:xfrm>
          <a:prstGeom prst="rect">
            <a:avLst/>
          </a:prstGeom>
          <a:noFill/>
          <a:ln/>
        </p:spPr>
        <p:txBody>
          <a:bodyPr wrap="square" lIns="0" tIns="0" rIns="0" bIns="0" rtlCol="0" anchor="t"/>
          <a:lstStyle/>
          <a:p>
            <a:pPr indent="0" marL="0">
              <a:buNone/>
            </a:pPr>
            <a:r>
              <a:rPr lang="en-US" sz="1600" dirty="0">
                <a:solidFill>
                  <a:schemeClr val="tx2"/>
                </a:solidFill>
              </a:rPr>
              <a:t>Objective: compare LSTM, GRU and TCN for battery SoH estimation under the same data split and training setup.</a:t>
            </a:r>
            <a:endParaRPr lang="en-US" sz="1600" dirty="0"/>
          </a:p>
        </p:txBody>
      </p:sp>
      <p:sp>
        <p:nvSpPr>
          <p:cNvPr id="4" name="Setup panel"/>
          <p:cNvSpPr/>
          <p:nvPr/>
        </p:nvSpPr>
        <p:spPr>
          <a:xfrm>
            <a:off x="548640" y="1645920"/>
            <a:ext cx="3931920" cy="4709160"/>
          </a:xfrm>
          <a:prstGeom prst="rect">
            <a:avLst/>
          </a:prstGeom>
          <a:solidFill>
            <a:schemeClr val="bg2"/>
          </a:solidFill>
          <a:ln w="12700">
            <a:solidFill>
              <a:schemeClr val="bg2"/>
            </a:solidFill>
            <a:prstDash val="solid"/>
          </a:ln>
        </p:spPr>
      </p:sp>
      <p:sp>
        <p:nvSpPr>
          <p:cNvPr id="5" name="Text 3"/>
          <p:cNvSpPr txBox="1"/>
          <p:nvPr/>
        </p:nvSpPr>
        <p:spPr>
          <a:xfrm>
            <a:off x="777240" y="1783080"/>
            <a:ext cx="3474720" cy="320040"/>
          </a:xfrm>
          <a:prstGeom prst="rect">
            <a:avLst/>
          </a:prstGeom>
          <a:noFill/>
          <a:ln/>
        </p:spPr>
        <p:txBody>
          <a:bodyPr wrap="square" lIns="0" tIns="0" rIns="0" bIns="0" rtlCol="0" anchor="ctr"/>
          <a:lstStyle/>
          <a:p>
            <a:pPr indent="0" marL="0">
              <a:buNone/>
            </a:pPr>
            <a:r>
              <a:rPr lang="en-US" sz="1800" b="1" dirty="0">
                <a:solidFill>
                  <a:schemeClr val="tx1"/>
                </a:solidFill>
              </a:rPr>
              <a:t>Data &amp; training setup</a:t>
            </a:r>
            <a:endParaRPr lang="en-US" sz="1800" dirty="0"/>
          </a:p>
        </p:txBody>
      </p:sp>
      <p:sp>
        <p:nvSpPr>
          <p:cNvPr id="6" name="Text 4"/>
          <p:cNvSpPr txBox="1"/>
          <p:nvPr/>
        </p:nvSpPr>
        <p:spPr>
          <a:xfrm>
            <a:off x="777240" y="2194560"/>
            <a:ext cx="3474720" cy="228600"/>
          </a:xfrm>
          <a:prstGeom prst="rect">
            <a:avLst/>
          </a:prstGeom>
          <a:noFill/>
          <a:ln/>
        </p:spPr>
        <p:txBody>
          <a:bodyPr wrap="square" lIns="0" tIns="0" rIns="0" bIns="0" rtlCol="0" anchor="ctr"/>
          <a:lstStyle/>
          <a:p>
            <a:pPr indent="0" marL="0">
              <a:buNone/>
            </a:pPr>
            <a:r>
              <a:rPr lang="en-US" sz="1200" dirty="0">
                <a:solidFill>
                  <a:schemeClr val="tx2"/>
                </a:solidFill>
              </a:rPr>
              <a:t>Train / validation / test split (sequences)</a:t>
            </a:r>
            <a:endParaRPr lang="en-US" sz="1200" dirty="0"/>
          </a:p>
        </p:txBody>
      </p:sp>
      <p:sp>
        <p:nvSpPr>
          <p:cNvPr id="7" name="Split Train"/>
          <p:cNvSpPr/>
          <p:nvPr/>
        </p:nvSpPr>
        <p:spPr>
          <a:xfrm>
            <a:off x="777240" y="2487168"/>
            <a:ext cx="2303312" cy="594360"/>
          </a:xfrm>
          <a:prstGeom prst="rect">
            <a:avLst/>
          </a:prstGeom>
          <a:solidFill>
            <a:schemeClr val="tx2"/>
          </a:solidFill>
          <a:ln w="19050">
            <a:solidFill>
              <a:schemeClr val="bg1"/>
            </a:solidFill>
          </a:ln>
        </p:spPr>
        <p:txBody>
          <a:bodyPr wrap="square" lIns="0" tIns="0" rIns="0" bIns="0" rtlCol="0" anchor="ctr"/>
          <a:lstStyle/>
          <a:p>
            <a:pPr algn="ctr" indent="0" marL="0">
              <a:buNone/>
            </a:pPr>
            <a:r>
              <a:rPr lang="en-US" sz="1200" b="1" dirty="0">
                <a:solidFill>
                  <a:schemeClr val="bg1"/>
                </a:solidFill>
              </a:rPr>
              <a:t>Train</a:t>
            </a:r>
            <a:endParaRPr lang="en-US" sz="1200" dirty="0"/>
          </a:p>
          <a:p>
            <a:pPr algn="ctr" indent="0" marL="0">
              <a:buNone/>
            </a:pPr>
            <a:r>
              <a:rPr lang="en-US" sz="1200" dirty="0">
                <a:solidFill>
                  <a:schemeClr val="bg1"/>
                </a:solidFill>
              </a:rPr>
              <a:t>1,516</a:t>
            </a:r>
            <a:endParaRPr lang="en-US" sz="1200" dirty="0"/>
          </a:p>
        </p:txBody>
      </p:sp>
      <p:sp>
        <p:nvSpPr>
          <p:cNvPr id="8" name="Split Val"/>
          <p:cNvSpPr/>
          <p:nvPr/>
        </p:nvSpPr>
        <p:spPr>
          <a:xfrm>
            <a:off x="3080552" y="2487168"/>
            <a:ext cx="575828" cy="594360"/>
          </a:xfrm>
          <a:prstGeom prst="rect">
            <a:avLst/>
          </a:prstGeom>
          <a:solidFill>
            <a:schemeClr val="accent3"/>
          </a:solidFill>
          <a:ln w="19050">
            <a:solidFill>
              <a:schemeClr val="bg1"/>
            </a:solidFill>
          </a:ln>
        </p:spPr>
        <p:txBody>
          <a:bodyPr wrap="square" lIns="0" tIns="0" rIns="0" bIns="0" rtlCol="0" anchor="ctr"/>
          <a:lstStyle/>
          <a:p>
            <a:pPr algn="ctr" indent="0" marL="0">
              <a:buNone/>
            </a:pPr>
            <a:r>
              <a:rPr lang="en-US" sz="1200" b="1" dirty="0">
                <a:solidFill>
                  <a:schemeClr val="bg1"/>
                </a:solidFill>
              </a:rPr>
              <a:t>Val</a:t>
            </a:r>
            <a:endParaRPr lang="en-US" sz="1200" dirty="0"/>
          </a:p>
          <a:p>
            <a:pPr algn="ctr" indent="0" marL="0">
              <a:buNone/>
            </a:pPr>
            <a:r>
              <a:rPr lang="en-US" sz="1200" dirty="0">
                <a:solidFill>
                  <a:schemeClr val="bg1"/>
                </a:solidFill>
              </a:rPr>
              <a:t>379</a:t>
            </a:r>
            <a:endParaRPr lang="en-US" sz="1200" dirty="0"/>
          </a:p>
        </p:txBody>
      </p:sp>
      <p:sp>
        <p:nvSpPr>
          <p:cNvPr id="9" name="Split Test"/>
          <p:cNvSpPr/>
          <p:nvPr/>
        </p:nvSpPr>
        <p:spPr>
          <a:xfrm>
            <a:off x="3656381" y="2487168"/>
            <a:ext cx="595579" cy="594360"/>
          </a:xfrm>
          <a:prstGeom prst="rect">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Test</a:t>
            </a:r>
            <a:endParaRPr lang="en-US" sz="1200" dirty="0"/>
          </a:p>
          <a:p>
            <a:pPr algn="ctr" indent="0" marL="0">
              <a:buNone/>
            </a:pPr>
            <a:r>
              <a:rPr lang="en-US" sz="1200" dirty="0">
                <a:solidFill>
                  <a:schemeClr val="bg1"/>
                </a:solidFill>
              </a:rPr>
              <a:t>392</a:t>
            </a:r>
            <a:endParaRPr lang="en-US" sz="1200" dirty="0"/>
          </a:p>
        </p:txBody>
      </p:sp>
      <p:sp>
        <p:nvSpPr>
          <p:cNvPr id="10" name="Text 8"/>
          <p:cNvSpPr txBox="1"/>
          <p:nvPr/>
        </p:nvSpPr>
        <p:spPr>
          <a:xfrm>
            <a:off x="777240" y="3291840"/>
            <a:ext cx="1188720" cy="365760"/>
          </a:xfrm>
          <a:prstGeom prst="rect">
            <a:avLst/>
          </a:prstGeom>
          <a:noFill/>
          <a:ln/>
        </p:spPr>
        <p:txBody>
          <a:bodyPr wrap="square" lIns="0" tIns="0" rIns="0" bIns="0" rtlCol="0" anchor="ctr"/>
          <a:lstStyle/>
          <a:p>
            <a:pPr indent="0" marL="0">
              <a:buNone/>
            </a:pPr>
            <a:r>
              <a:rPr lang="en-US" sz="1300" dirty="0">
                <a:solidFill>
                  <a:schemeClr val="tx2"/>
                </a:solidFill>
              </a:rPr>
              <a:t>Dataset</a:t>
            </a:r>
            <a:endParaRPr lang="en-US" sz="1300" dirty="0"/>
          </a:p>
        </p:txBody>
      </p:sp>
      <p:sp>
        <p:nvSpPr>
          <p:cNvPr id="11" name="Text 9"/>
          <p:cNvSpPr txBox="1"/>
          <p:nvPr/>
        </p:nvSpPr>
        <p:spPr>
          <a:xfrm>
            <a:off x="2011680" y="3291840"/>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sequences_v1.npz (IITG)</a:t>
            </a:r>
            <a:endParaRPr lang="en-US" sz="1400" dirty="0"/>
          </a:p>
        </p:txBody>
      </p:sp>
      <p:sp>
        <p:nvSpPr>
          <p:cNvPr id="12" name="Text 10"/>
          <p:cNvSpPr txBox="1"/>
          <p:nvPr/>
        </p:nvSpPr>
        <p:spPr>
          <a:xfrm>
            <a:off x="777240" y="3657600"/>
            <a:ext cx="1188720" cy="365760"/>
          </a:xfrm>
          <a:prstGeom prst="rect">
            <a:avLst/>
          </a:prstGeom>
          <a:noFill/>
          <a:ln/>
        </p:spPr>
        <p:txBody>
          <a:bodyPr wrap="square" lIns="0" tIns="0" rIns="0" bIns="0" rtlCol="0" anchor="ctr"/>
          <a:lstStyle/>
          <a:p>
            <a:pPr indent="0" marL="0">
              <a:buNone/>
            </a:pPr>
            <a:r>
              <a:rPr lang="en-US" sz="1300" dirty="0">
                <a:solidFill>
                  <a:schemeClr val="tx2"/>
                </a:solidFill>
              </a:rPr>
              <a:t>Samples</a:t>
            </a:r>
            <a:endParaRPr lang="en-US" sz="1300" dirty="0"/>
          </a:p>
        </p:txBody>
      </p:sp>
      <p:sp>
        <p:nvSpPr>
          <p:cNvPr id="13" name="Text 11"/>
          <p:cNvSpPr txBox="1"/>
          <p:nvPr/>
        </p:nvSpPr>
        <p:spPr>
          <a:xfrm>
            <a:off x="2011680" y="3657600"/>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2,287 sequences</a:t>
            </a:r>
            <a:endParaRPr lang="en-US" sz="1400" dirty="0"/>
          </a:p>
        </p:txBody>
      </p:sp>
      <p:sp>
        <p:nvSpPr>
          <p:cNvPr id="14" name="Text 12"/>
          <p:cNvSpPr txBox="1"/>
          <p:nvPr/>
        </p:nvSpPr>
        <p:spPr>
          <a:xfrm>
            <a:off x="777240" y="4023360"/>
            <a:ext cx="1188720" cy="365760"/>
          </a:xfrm>
          <a:prstGeom prst="rect">
            <a:avLst/>
          </a:prstGeom>
          <a:noFill/>
          <a:ln/>
        </p:spPr>
        <p:txBody>
          <a:bodyPr wrap="square" lIns="0" tIns="0" rIns="0" bIns="0" rtlCol="0" anchor="ctr"/>
          <a:lstStyle/>
          <a:p>
            <a:pPr indent="0" marL="0">
              <a:buNone/>
            </a:pPr>
            <a:r>
              <a:rPr lang="en-US" sz="1300" dirty="0">
                <a:solidFill>
                  <a:schemeClr val="tx2"/>
                </a:solidFill>
              </a:rPr>
              <a:t>Input</a:t>
            </a:r>
            <a:endParaRPr lang="en-US" sz="1300" dirty="0"/>
          </a:p>
        </p:txBody>
      </p:sp>
      <p:sp>
        <p:nvSpPr>
          <p:cNvPr id="15" name="Text 13"/>
          <p:cNvSpPr txBox="1"/>
          <p:nvPr/>
        </p:nvSpPr>
        <p:spPr>
          <a:xfrm>
            <a:off x="2011680" y="4023360"/>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10 time steps × 2 features</a:t>
            </a:r>
            <a:endParaRPr lang="en-US" sz="1400" dirty="0"/>
          </a:p>
        </p:txBody>
      </p:sp>
      <p:sp>
        <p:nvSpPr>
          <p:cNvPr id="16" name="Text 14"/>
          <p:cNvSpPr txBox="1"/>
          <p:nvPr/>
        </p:nvSpPr>
        <p:spPr>
          <a:xfrm>
            <a:off x="777240" y="4389120"/>
            <a:ext cx="1188720" cy="365760"/>
          </a:xfrm>
          <a:prstGeom prst="rect">
            <a:avLst/>
          </a:prstGeom>
          <a:noFill/>
          <a:ln/>
        </p:spPr>
        <p:txBody>
          <a:bodyPr wrap="square" lIns="0" tIns="0" rIns="0" bIns="0" rtlCol="0" anchor="ctr"/>
          <a:lstStyle/>
          <a:p>
            <a:pPr indent="0" marL="0">
              <a:buNone/>
            </a:pPr>
            <a:r>
              <a:rPr lang="en-US" sz="1300" dirty="0">
                <a:solidFill>
                  <a:schemeClr val="tx2"/>
                </a:solidFill>
              </a:rPr>
              <a:t>Target</a:t>
            </a:r>
            <a:endParaRPr lang="en-US" sz="1300" dirty="0"/>
          </a:p>
        </p:txBody>
      </p:sp>
      <p:sp>
        <p:nvSpPr>
          <p:cNvPr id="17" name="Text 15"/>
          <p:cNvSpPr txBox="1"/>
          <p:nvPr/>
        </p:nvSpPr>
        <p:spPr>
          <a:xfrm>
            <a:off x="2011680" y="4389120"/>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SoH, scaled 0–100 → 0–1</a:t>
            </a:r>
            <a:endParaRPr lang="en-US" sz="1400" dirty="0"/>
          </a:p>
        </p:txBody>
      </p:sp>
      <p:sp>
        <p:nvSpPr>
          <p:cNvPr id="18" name="Text 16"/>
          <p:cNvSpPr txBox="1"/>
          <p:nvPr/>
        </p:nvSpPr>
        <p:spPr>
          <a:xfrm>
            <a:off x="777240" y="4754880"/>
            <a:ext cx="1188720" cy="365760"/>
          </a:xfrm>
          <a:prstGeom prst="rect">
            <a:avLst/>
          </a:prstGeom>
          <a:noFill/>
          <a:ln/>
        </p:spPr>
        <p:txBody>
          <a:bodyPr wrap="square" lIns="0" tIns="0" rIns="0" bIns="0" rtlCol="0" anchor="ctr"/>
          <a:lstStyle/>
          <a:p>
            <a:pPr indent="0" marL="0">
              <a:buNone/>
            </a:pPr>
            <a:r>
              <a:rPr lang="en-US" sz="1300" dirty="0">
                <a:solidFill>
                  <a:schemeClr val="tx2"/>
                </a:solidFill>
              </a:rPr>
              <a:t>Loss / optimizer</a:t>
            </a:r>
            <a:endParaRPr lang="en-US" sz="1300" dirty="0"/>
          </a:p>
        </p:txBody>
      </p:sp>
      <p:sp>
        <p:nvSpPr>
          <p:cNvPr id="19" name="Text 17"/>
          <p:cNvSpPr txBox="1"/>
          <p:nvPr/>
        </p:nvSpPr>
        <p:spPr>
          <a:xfrm>
            <a:off x="2011680" y="4754880"/>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MSELoss · Adam (lr 0.001)</a:t>
            </a:r>
            <a:endParaRPr lang="en-US" sz="1400" dirty="0"/>
          </a:p>
        </p:txBody>
      </p:sp>
      <p:sp>
        <p:nvSpPr>
          <p:cNvPr id="20" name="Text 18"/>
          <p:cNvSpPr txBox="1"/>
          <p:nvPr/>
        </p:nvSpPr>
        <p:spPr>
          <a:xfrm>
            <a:off x="777240" y="5120640"/>
            <a:ext cx="1188720" cy="365760"/>
          </a:xfrm>
          <a:prstGeom prst="rect">
            <a:avLst/>
          </a:prstGeom>
          <a:noFill/>
          <a:ln/>
        </p:spPr>
        <p:txBody>
          <a:bodyPr wrap="square" lIns="0" tIns="0" rIns="0" bIns="0" rtlCol="0" anchor="ctr"/>
          <a:lstStyle/>
          <a:p>
            <a:pPr indent="0" marL="0">
              <a:buNone/>
            </a:pPr>
            <a:r>
              <a:rPr lang="en-US" sz="1300" dirty="0">
                <a:solidFill>
                  <a:schemeClr val="tx2"/>
                </a:solidFill>
              </a:rPr>
              <a:t>Training</a:t>
            </a:r>
            <a:endParaRPr lang="en-US" sz="1300" dirty="0"/>
          </a:p>
        </p:txBody>
      </p:sp>
      <p:sp>
        <p:nvSpPr>
          <p:cNvPr id="21" name="Text 19"/>
          <p:cNvSpPr txBox="1"/>
          <p:nvPr/>
        </p:nvSpPr>
        <p:spPr>
          <a:xfrm>
            <a:off x="2011680" y="5120640"/>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batch 32 · 30 epochs · CPU</a:t>
            </a:r>
            <a:endParaRPr lang="en-US" sz="1400" dirty="0"/>
          </a:p>
        </p:txBody>
      </p:sp>
      <p:sp>
        <p:nvSpPr>
          <p:cNvPr id="22" name="Text 20"/>
          <p:cNvSpPr txBox="1"/>
          <p:nvPr/>
        </p:nvSpPr>
        <p:spPr>
          <a:xfrm>
            <a:off x="777240" y="5486400"/>
            <a:ext cx="1188720" cy="365760"/>
          </a:xfrm>
          <a:prstGeom prst="rect">
            <a:avLst/>
          </a:prstGeom>
          <a:noFill/>
          <a:ln/>
        </p:spPr>
        <p:txBody>
          <a:bodyPr wrap="square" lIns="0" tIns="0" rIns="0" bIns="0" rtlCol="0" anchor="ctr"/>
          <a:lstStyle/>
          <a:p>
            <a:pPr indent="0" marL="0">
              <a:buNone/>
            </a:pPr>
            <a:r>
              <a:rPr lang="en-US" sz="1300" dirty="0">
                <a:solidFill>
                  <a:schemeClr val="tx2"/>
                </a:solidFill>
              </a:rPr>
              <a:t>Checkpoint</a:t>
            </a:r>
            <a:endParaRPr lang="en-US" sz="1300" dirty="0"/>
          </a:p>
        </p:txBody>
      </p:sp>
      <p:sp>
        <p:nvSpPr>
          <p:cNvPr id="23" name="Text 21"/>
          <p:cNvSpPr txBox="1"/>
          <p:nvPr/>
        </p:nvSpPr>
        <p:spPr>
          <a:xfrm>
            <a:off x="2011680" y="5486400"/>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best validation loss</a:t>
            </a:r>
            <a:endParaRPr lang="en-US" sz="1400" dirty="0"/>
          </a:p>
        </p:txBody>
      </p:sp>
      <p:sp>
        <p:nvSpPr>
          <p:cNvPr id="24" name="Text 22"/>
          <p:cNvSpPr txBox="1"/>
          <p:nvPr/>
        </p:nvSpPr>
        <p:spPr>
          <a:xfrm>
            <a:off x="777240" y="6007608"/>
            <a:ext cx="3474720" cy="228600"/>
          </a:xfrm>
          <a:prstGeom prst="rect">
            <a:avLst/>
          </a:prstGeom>
          <a:noFill/>
          <a:ln/>
        </p:spPr>
        <p:txBody>
          <a:bodyPr wrap="square" lIns="0" tIns="0" rIns="0" bIns="0" rtlCol="0" anchor="ctr"/>
          <a:lstStyle/>
          <a:p>
            <a:pPr indent="0" marL="0">
              <a:buNone/>
            </a:pPr>
            <a:r>
              <a:rPr lang="en-US" sz="1100" i="1" dirty="0">
                <a:solidFill>
                  <a:schemeClr val="tx2"/>
                </a:solidFill>
              </a:rPr>
              <a:t>Feature names are not printed in the notebooks.</a:t>
            </a:r>
            <a:endParaRPr lang="en-US" sz="1100" dirty="0"/>
          </a:p>
        </p:txBody>
      </p:sp>
      <p:sp>
        <p:nvSpPr>
          <p:cNvPr id="25" name="LSTM card"/>
          <p:cNvSpPr/>
          <p:nvPr/>
        </p:nvSpPr>
        <p:spPr>
          <a:xfrm>
            <a:off x="4754880" y="1645920"/>
            <a:ext cx="6885432" cy="1463040"/>
          </a:xfrm>
          <a:prstGeom prst="rect">
            <a:avLst/>
          </a:prstGeom>
          <a:solidFill>
            <a:schemeClr val="bg2"/>
          </a:solidFill>
          <a:ln w="12700">
            <a:solidFill>
              <a:schemeClr val="bg2"/>
            </a:solidFill>
            <a:prstDash val="solid"/>
          </a:ln>
        </p:spPr>
      </p:sp>
      <p:sp>
        <p:nvSpPr>
          <p:cNvPr id="26" name="Shape 24"/>
          <p:cNvSpPr/>
          <p:nvPr/>
        </p:nvSpPr>
        <p:spPr>
          <a:xfrm>
            <a:off x="4937760" y="1828800"/>
            <a:ext cx="146304" cy="146304"/>
          </a:xfrm>
          <a:prstGeom prst="rect">
            <a:avLst/>
          </a:prstGeom>
          <a:solidFill>
            <a:schemeClr val="accent3"/>
          </a:solidFill>
          <a:ln w="12700">
            <a:solidFill>
              <a:schemeClr val="accent3"/>
            </a:solidFill>
            <a:prstDash val="solid"/>
          </a:ln>
        </p:spPr>
      </p:sp>
      <p:sp>
        <p:nvSpPr>
          <p:cNvPr id="27" name="Text 25"/>
          <p:cNvSpPr txBox="1"/>
          <p:nvPr/>
        </p:nvSpPr>
        <p:spPr>
          <a:xfrm>
            <a:off x="5166360" y="1737360"/>
            <a:ext cx="822960" cy="329184"/>
          </a:xfrm>
          <a:prstGeom prst="rect">
            <a:avLst/>
          </a:prstGeom>
          <a:noFill/>
          <a:ln/>
        </p:spPr>
        <p:txBody>
          <a:bodyPr wrap="square" lIns="0" tIns="0" rIns="0" bIns="0" rtlCol="0" anchor="ctr"/>
          <a:lstStyle/>
          <a:p>
            <a:pPr indent="0" marL="0">
              <a:buNone/>
            </a:pPr>
            <a:r>
              <a:rPr lang="en-US" sz="1800" b="1" dirty="0">
                <a:solidFill>
                  <a:schemeClr val="tx1"/>
                </a:solidFill>
              </a:rPr>
              <a:t>LSTM</a:t>
            </a:r>
            <a:endParaRPr lang="en-US" sz="1800" dirty="0"/>
          </a:p>
        </p:txBody>
      </p:sp>
      <p:sp>
        <p:nvSpPr>
          <p:cNvPr id="28" name="Text 26"/>
          <p:cNvSpPr txBox="1"/>
          <p:nvPr/>
        </p:nvSpPr>
        <p:spPr>
          <a:xfrm>
            <a:off x="6035040" y="1737360"/>
            <a:ext cx="5422392" cy="329184"/>
          </a:xfrm>
          <a:prstGeom prst="rect">
            <a:avLst/>
          </a:prstGeom>
          <a:noFill/>
          <a:ln/>
        </p:spPr>
        <p:txBody>
          <a:bodyPr wrap="square" lIns="0" tIns="0" rIns="0" bIns="0" rtlCol="0" anchor="ctr"/>
          <a:lstStyle/>
          <a:p>
            <a:pPr indent="0" marL="0">
              <a:buNone/>
            </a:pPr>
            <a:r>
              <a:rPr lang="en-US" sz="1200" dirty="0">
                <a:solidFill>
                  <a:schemeClr val="tx2"/>
                </a:solidFill>
              </a:rPr>
              <a:t>Day 15  ·  hidden 64  ·  2 layers  ·  dropout 0.2</a:t>
            </a:r>
            <a:endParaRPr lang="en-US" sz="1200" dirty="0"/>
          </a:p>
        </p:txBody>
      </p:sp>
      <p:sp>
        <p:nvSpPr>
          <p:cNvPr id="29" name="Text 27"/>
          <p:cNvSpPr/>
          <p:nvPr/>
        </p:nvSpPr>
        <p:spPr>
          <a:xfrm>
            <a:off x="4937760" y="2212848"/>
            <a:ext cx="1157630" cy="731520"/>
          </a:xfrm>
          <a:prstGeom prst="rect">
            <a:avLst/>
          </a:prstGeom>
          <a:solidFill>
            <a:schemeClr val="bg1"/>
          </a:solidFill>
          <a:ln w="19050">
            <a:solidFill>
              <a:schemeClr val="accent3"/>
            </a:solidFill>
          </a:ln>
        </p:spPr>
        <p:txBody>
          <a:bodyPr wrap="square" lIns="25400" tIns="25400" rIns="25400" bIns="25400" rtlCol="0" anchor="ctr"/>
          <a:lstStyle/>
          <a:p>
            <a:pPr algn="ctr" indent="0" marL="0">
              <a:buNone/>
            </a:pPr>
            <a:r>
              <a:rPr lang="en-US" sz="1200" b="1" dirty="0">
                <a:solidFill>
                  <a:schemeClr val="tx1"/>
                </a:solidFill>
              </a:rPr>
              <a:t>Input</a:t>
            </a:r>
            <a:endParaRPr lang="en-US" sz="1200" dirty="0"/>
          </a:p>
          <a:p>
            <a:pPr algn="ctr" indent="0" marL="0">
              <a:buNone/>
            </a:pPr>
            <a:r>
              <a:rPr lang="en-US" sz="1200" dirty="0">
                <a:solidFill>
                  <a:schemeClr val="tx1"/>
                </a:solidFill>
              </a:rPr>
              <a:t>10 × 2</a:t>
            </a:r>
            <a:endParaRPr lang="en-US" sz="1200" dirty="0"/>
          </a:p>
        </p:txBody>
      </p:sp>
      <p:sp>
        <p:nvSpPr>
          <p:cNvPr id="30" name="Shape 28"/>
          <p:cNvSpPr/>
          <p:nvPr/>
        </p:nvSpPr>
        <p:spPr>
          <a:xfrm>
            <a:off x="6113678" y="2578608"/>
            <a:ext cx="146304" cy="0"/>
          </a:xfrm>
          <a:prstGeom prst="line">
            <a:avLst/>
          </a:prstGeom>
          <a:noFill/>
          <a:ln w="15875">
            <a:solidFill>
              <a:schemeClr val="tx2"/>
            </a:solidFill>
            <a:prstDash val="solid"/>
            <a:tailEnd type="triangle"/>
          </a:ln>
        </p:spPr>
      </p:sp>
      <p:sp>
        <p:nvSpPr>
          <p:cNvPr id="31" name="Text 29"/>
          <p:cNvSpPr/>
          <p:nvPr/>
        </p:nvSpPr>
        <p:spPr>
          <a:xfrm>
            <a:off x="6278270" y="2212848"/>
            <a:ext cx="1157630" cy="731520"/>
          </a:xfrm>
          <a:prstGeom prst="rect">
            <a:avLst/>
          </a:prstGeom>
          <a:solidFill>
            <a:schemeClr val="bg1"/>
          </a:solidFill>
          <a:ln w="19050">
            <a:solidFill>
              <a:schemeClr val="accent3"/>
            </a:solidFill>
          </a:ln>
        </p:spPr>
        <p:txBody>
          <a:bodyPr wrap="square" lIns="25400" tIns="25400" rIns="25400" bIns="25400" rtlCol="0" anchor="ctr"/>
          <a:lstStyle/>
          <a:p>
            <a:pPr algn="ctr" indent="0" marL="0">
              <a:buNone/>
            </a:pPr>
            <a:r>
              <a:rPr lang="en-US" sz="1200" b="1" dirty="0">
                <a:solidFill>
                  <a:schemeClr val="tx1"/>
                </a:solidFill>
              </a:rPr>
              <a:t>LSTM</a:t>
            </a:r>
            <a:endParaRPr lang="en-US" sz="1200" dirty="0"/>
          </a:p>
          <a:p>
            <a:pPr algn="ctr" indent="0" marL="0">
              <a:buNone/>
            </a:pPr>
            <a:r>
              <a:rPr lang="en-US" sz="1200" dirty="0">
                <a:solidFill>
                  <a:schemeClr val="tx1"/>
                </a:solidFill>
              </a:rPr>
              <a:t>2 layers · h=64</a:t>
            </a:r>
            <a:endParaRPr lang="en-US" sz="1200" dirty="0"/>
          </a:p>
        </p:txBody>
      </p:sp>
      <p:sp>
        <p:nvSpPr>
          <p:cNvPr id="32" name="Shape 30"/>
          <p:cNvSpPr/>
          <p:nvPr/>
        </p:nvSpPr>
        <p:spPr>
          <a:xfrm>
            <a:off x="7454189" y="2578608"/>
            <a:ext cx="146304" cy="0"/>
          </a:xfrm>
          <a:prstGeom prst="line">
            <a:avLst/>
          </a:prstGeom>
          <a:noFill/>
          <a:ln w="15875">
            <a:solidFill>
              <a:schemeClr val="tx2"/>
            </a:solidFill>
            <a:prstDash val="solid"/>
            <a:tailEnd type="triangle"/>
          </a:ln>
        </p:spPr>
      </p:sp>
      <p:sp>
        <p:nvSpPr>
          <p:cNvPr id="33" name="Text 31"/>
          <p:cNvSpPr/>
          <p:nvPr/>
        </p:nvSpPr>
        <p:spPr>
          <a:xfrm>
            <a:off x="7618781" y="2212848"/>
            <a:ext cx="1157630" cy="731520"/>
          </a:xfrm>
          <a:prstGeom prst="rect">
            <a:avLst/>
          </a:prstGeom>
          <a:solidFill>
            <a:schemeClr val="bg1"/>
          </a:solidFill>
          <a:ln w="19050">
            <a:solidFill>
              <a:schemeClr val="accent3"/>
            </a:solidFill>
          </a:ln>
        </p:spPr>
        <p:txBody>
          <a:bodyPr wrap="square" lIns="25400" tIns="25400" rIns="25400" bIns="25400" rtlCol="0" anchor="ctr"/>
          <a:lstStyle/>
          <a:p>
            <a:pPr algn="ctr" indent="0" marL="0">
              <a:buNone/>
            </a:pPr>
            <a:r>
              <a:rPr lang="en-US" sz="1200" b="1" dirty="0">
                <a:solidFill>
                  <a:schemeClr val="tx1"/>
                </a:solidFill>
              </a:rPr>
              <a:t>Last time</a:t>
            </a:r>
            <a:endParaRPr lang="en-US" sz="1200" dirty="0"/>
          </a:p>
          <a:p>
            <a:pPr algn="ctr" indent="0" marL="0">
              <a:buNone/>
            </a:pPr>
            <a:r>
              <a:rPr lang="en-US" sz="1200" dirty="0">
                <a:solidFill>
                  <a:schemeClr val="tx1"/>
                </a:solidFill>
              </a:rPr>
              <a:t>step</a:t>
            </a:r>
            <a:endParaRPr lang="en-US" sz="1200" dirty="0"/>
          </a:p>
        </p:txBody>
      </p:sp>
      <p:sp>
        <p:nvSpPr>
          <p:cNvPr id="34" name="Shape 32"/>
          <p:cNvSpPr/>
          <p:nvPr/>
        </p:nvSpPr>
        <p:spPr>
          <a:xfrm>
            <a:off x="8794699" y="2578608"/>
            <a:ext cx="146304" cy="0"/>
          </a:xfrm>
          <a:prstGeom prst="line">
            <a:avLst/>
          </a:prstGeom>
          <a:noFill/>
          <a:ln w="15875">
            <a:solidFill>
              <a:schemeClr val="tx2"/>
            </a:solidFill>
            <a:prstDash val="solid"/>
            <a:tailEnd type="triangle"/>
          </a:ln>
        </p:spPr>
      </p:sp>
      <p:sp>
        <p:nvSpPr>
          <p:cNvPr id="35" name="Text 33"/>
          <p:cNvSpPr/>
          <p:nvPr/>
        </p:nvSpPr>
        <p:spPr>
          <a:xfrm>
            <a:off x="8959291" y="2212848"/>
            <a:ext cx="1157630" cy="731520"/>
          </a:xfrm>
          <a:prstGeom prst="rect">
            <a:avLst/>
          </a:prstGeom>
          <a:solidFill>
            <a:schemeClr val="bg1"/>
          </a:solidFill>
          <a:ln w="19050">
            <a:solidFill>
              <a:schemeClr val="accent3"/>
            </a:solidFill>
          </a:ln>
        </p:spPr>
        <p:txBody>
          <a:bodyPr wrap="square" lIns="25400" tIns="25400" rIns="25400" bIns="25400" rtlCol="0" anchor="ctr"/>
          <a:lstStyle/>
          <a:p>
            <a:pPr algn="ctr" indent="0" marL="0">
              <a:buNone/>
            </a:pPr>
            <a:r>
              <a:rPr lang="en-US" sz="1200" b="1" dirty="0">
                <a:solidFill>
                  <a:schemeClr val="tx1"/>
                </a:solidFill>
              </a:rPr>
              <a:t>FC 64→32</a:t>
            </a:r>
            <a:endParaRPr lang="en-US" sz="1200" dirty="0"/>
          </a:p>
          <a:p>
            <a:pPr algn="ctr" indent="0" marL="0">
              <a:buNone/>
            </a:pPr>
            <a:r>
              <a:rPr lang="en-US" sz="1200" dirty="0">
                <a:solidFill>
                  <a:schemeClr val="tx1"/>
                </a:solidFill>
              </a:rPr>
              <a:t>+ ReLU</a:t>
            </a:r>
            <a:endParaRPr lang="en-US" sz="1200" dirty="0"/>
          </a:p>
        </p:txBody>
      </p:sp>
      <p:sp>
        <p:nvSpPr>
          <p:cNvPr id="36" name="Shape 34"/>
          <p:cNvSpPr/>
          <p:nvPr/>
        </p:nvSpPr>
        <p:spPr>
          <a:xfrm>
            <a:off x="10135210" y="2578608"/>
            <a:ext cx="146304" cy="0"/>
          </a:xfrm>
          <a:prstGeom prst="line">
            <a:avLst/>
          </a:prstGeom>
          <a:noFill/>
          <a:ln w="15875">
            <a:solidFill>
              <a:schemeClr val="tx2"/>
            </a:solidFill>
            <a:prstDash val="solid"/>
            <a:tailEnd type="triangle"/>
          </a:ln>
        </p:spPr>
      </p:sp>
      <p:sp>
        <p:nvSpPr>
          <p:cNvPr id="37" name="Text 35"/>
          <p:cNvSpPr/>
          <p:nvPr/>
        </p:nvSpPr>
        <p:spPr>
          <a:xfrm>
            <a:off x="10299802" y="2212848"/>
            <a:ext cx="1157630" cy="731520"/>
          </a:xfrm>
          <a:prstGeom prst="rect">
            <a:avLst/>
          </a:prstGeom>
          <a:solidFill>
            <a:schemeClr val="bg1"/>
          </a:solidFill>
          <a:ln w="19050">
            <a:solidFill>
              <a:schemeClr val="accent3"/>
            </a:solidFill>
          </a:ln>
        </p:spPr>
        <p:txBody>
          <a:bodyPr wrap="square" lIns="25400" tIns="25400" rIns="25400" bIns="25400" rtlCol="0" anchor="ctr"/>
          <a:lstStyle/>
          <a:p>
            <a:pPr algn="ctr" indent="0" marL="0">
              <a:buNone/>
            </a:pPr>
            <a:r>
              <a:rPr lang="en-US" sz="1200" b="1" dirty="0">
                <a:solidFill>
                  <a:schemeClr val="tx1"/>
                </a:solidFill>
              </a:rPr>
              <a:t>FC 32→1</a:t>
            </a:r>
            <a:endParaRPr lang="en-US" sz="1200" dirty="0"/>
          </a:p>
          <a:p>
            <a:pPr algn="ctr" indent="0" marL="0">
              <a:buNone/>
            </a:pPr>
            <a:r>
              <a:rPr lang="en-US" sz="1200" dirty="0">
                <a:solidFill>
                  <a:schemeClr val="tx1"/>
                </a:solidFill>
              </a:rPr>
              <a:t>(SoH)</a:t>
            </a:r>
            <a:endParaRPr lang="en-US" sz="1200" dirty="0"/>
          </a:p>
        </p:txBody>
      </p:sp>
      <p:sp>
        <p:nvSpPr>
          <p:cNvPr id="38" name="GRU card"/>
          <p:cNvSpPr/>
          <p:nvPr/>
        </p:nvSpPr>
        <p:spPr>
          <a:xfrm>
            <a:off x="4754880" y="3268980"/>
            <a:ext cx="6885432" cy="1463040"/>
          </a:xfrm>
          <a:prstGeom prst="rect">
            <a:avLst/>
          </a:prstGeom>
          <a:solidFill>
            <a:schemeClr val="bg2"/>
          </a:solidFill>
          <a:ln w="12700">
            <a:solidFill>
              <a:schemeClr val="bg2"/>
            </a:solidFill>
            <a:prstDash val="solid"/>
          </a:ln>
        </p:spPr>
      </p:sp>
      <p:sp>
        <p:nvSpPr>
          <p:cNvPr id="39" name="Shape 37"/>
          <p:cNvSpPr/>
          <p:nvPr/>
        </p:nvSpPr>
        <p:spPr>
          <a:xfrm>
            <a:off x="4937760" y="3451860"/>
            <a:ext cx="146304" cy="146304"/>
          </a:xfrm>
          <a:prstGeom prst="rect">
            <a:avLst/>
          </a:prstGeom>
          <a:solidFill>
            <a:schemeClr val="accent1"/>
          </a:solidFill>
          <a:ln w="12700">
            <a:solidFill>
              <a:schemeClr val="accent1"/>
            </a:solidFill>
            <a:prstDash val="solid"/>
          </a:ln>
        </p:spPr>
      </p:sp>
      <p:sp>
        <p:nvSpPr>
          <p:cNvPr id="40" name="Text 38"/>
          <p:cNvSpPr txBox="1"/>
          <p:nvPr/>
        </p:nvSpPr>
        <p:spPr>
          <a:xfrm>
            <a:off x="5166360" y="3360420"/>
            <a:ext cx="822960" cy="329184"/>
          </a:xfrm>
          <a:prstGeom prst="rect">
            <a:avLst/>
          </a:prstGeom>
          <a:noFill/>
          <a:ln/>
        </p:spPr>
        <p:txBody>
          <a:bodyPr wrap="square" lIns="0" tIns="0" rIns="0" bIns="0" rtlCol="0" anchor="ctr"/>
          <a:lstStyle/>
          <a:p>
            <a:pPr indent="0" marL="0">
              <a:buNone/>
            </a:pPr>
            <a:r>
              <a:rPr lang="en-US" sz="1800" b="1" dirty="0">
                <a:solidFill>
                  <a:schemeClr val="tx1"/>
                </a:solidFill>
              </a:rPr>
              <a:t>GRU</a:t>
            </a:r>
            <a:endParaRPr lang="en-US" sz="1800" dirty="0"/>
          </a:p>
        </p:txBody>
      </p:sp>
      <p:sp>
        <p:nvSpPr>
          <p:cNvPr id="41" name="Text 39"/>
          <p:cNvSpPr txBox="1"/>
          <p:nvPr/>
        </p:nvSpPr>
        <p:spPr>
          <a:xfrm>
            <a:off x="6035040" y="3360420"/>
            <a:ext cx="5422392" cy="329184"/>
          </a:xfrm>
          <a:prstGeom prst="rect">
            <a:avLst/>
          </a:prstGeom>
          <a:noFill/>
          <a:ln/>
        </p:spPr>
        <p:txBody>
          <a:bodyPr wrap="square" lIns="0" tIns="0" rIns="0" bIns="0" rtlCol="0" anchor="ctr"/>
          <a:lstStyle/>
          <a:p>
            <a:pPr indent="0" marL="0">
              <a:buNone/>
            </a:pPr>
            <a:r>
              <a:rPr lang="en-US" sz="1200" dirty="0">
                <a:solidFill>
                  <a:schemeClr val="tx2"/>
                </a:solidFill>
              </a:rPr>
              <a:t>Day 16  ·  hidden 64  ·  2 layers  ·  dropout 0.2</a:t>
            </a:r>
            <a:endParaRPr lang="en-US" sz="1200" dirty="0"/>
          </a:p>
        </p:txBody>
      </p:sp>
      <p:sp>
        <p:nvSpPr>
          <p:cNvPr id="42" name="Text 40"/>
          <p:cNvSpPr/>
          <p:nvPr/>
        </p:nvSpPr>
        <p:spPr>
          <a:xfrm>
            <a:off x="4937760" y="3835908"/>
            <a:ext cx="1157630" cy="731520"/>
          </a:xfrm>
          <a:prstGeom prst="rect">
            <a:avLst/>
          </a:prstGeom>
          <a:solidFill>
            <a:schemeClr val="bg1"/>
          </a:solidFill>
          <a:ln w="19050">
            <a:solidFill>
              <a:schemeClr val="accent1"/>
            </a:solidFill>
          </a:ln>
        </p:spPr>
        <p:txBody>
          <a:bodyPr wrap="square" lIns="25400" tIns="25400" rIns="25400" bIns="25400" rtlCol="0" anchor="ctr"/>
          <a:lstStyle/>
          <a:p>
            <a:pPr algn="ctr" indent="0" marL="0">
              <a:buNone/>
            </a:pPr>
            <a:r>
              <a:rPr lang="en-US" sz="1200" b="1" dirty="0">
                <a:solidFill>
                  <a:schemeClr val="tx1"/>
                </a:solidFill>
              </a:rPr>
              <a:t>Input</a:t>
            </a:r>
            <a:endParaRPr lang="en-US" sz="1200" dirty="0"/>
          </a:p>
          <a:p>
            <a:pPr algn="ctr" indent="0" marL="0">
              <a:buNone/>
            </a:pPr>
            <a:r>
              <a:rPr lang="en-US" sz="1200" dirty="0">
                <a:solidFill>
                  <a:schemeClr val="tx1"/>
                </a:solidFill>
              </a:rPr>
              <a:t>10 × 2</a:t>
            </a:r>
            <a:endParaRPr lang="en-US" sz="1200" dirty="0"/>
          </a:p>
        </p:txBody>
      </p:sp>
      <p:sp>
        <p:nvSpPr>
          <p:cNvPr id="43" name="Shape 41"/>
          <p:cNvSpPr/>
          <p:nvPr/>
        </p:nvSpPr>
        <p:spPr>
          <a:xfrm>
            <a:off x="6113678" y="4201668"/>
            <a:ext cx="146304" cy="0"/>
          </a:xfrm>
          <a:prstGeom prst="line">
            <a:avLst/>
          </a:prstGeom>
          <a:noFill/>
          <a:ln w="15875">
            <a:solidFill>
              <a:schemeClr val="tx2"/>
            </a:solidFill>
            <a:prstDash val="solid"/>
            <a:tailEnd type="triangle"/>
          </a:ln>
        </p:spPr>
      </p:sp>
      <p:sp>
        <p:nvSpPr>
          <p:cNvPr id="44" name="Text 42"/>
          <p:cNvSpPr/>
          <p:nvPr/>
        </p:nvSpPr>
        <p:spPr>
          <a:xfrm>
            <a:off x="6278270" y="3835908"/>
            <a:ext cx="1157630" cy="731520"/>
          </a:xfrm>
          <a:prstGeom prst="rect">
            <a:avLst/>
          </a:prstGeom>
          <a:solidFill>
            <a:schemeClr val="bg1"/>
          </a:solidFill>
          <a:ln w="19050">
            <a:solidFill>
              <a:schemeClr val="accent1"/>
            </a:solidFill>
          </a:ln>
        </p:spPr>
        <p:txBody>
          <a:bodyPr wrap="square" lIns="25400" tIns="25400" rIns="25400" bIns="25400" rtlCol="0" anchor="ctr"/>
          <a:lstStyle/>
          <a:p>
            <a:pPr algn="ctr" indent="0" marL="0">
              <a:buNone/>
            </a:pPr>
            <a:r>
              <a:rPr lang="en-US" sz="1200" b="1" dirty="0">
                <a:solidFill>
                  <a:schemeClr val="tx1"/>
                </a:solidFill>
              </a:rPr>
              <a:t>GRU</a:t>
            </a:r>
            <a:endParaRPr lang="en-US" sz="1200" dirty="0"/>
          </a:p>
          <a:p>
            <a:pPr algn="ctr" indent="0" marL="0">
              <a:buNone/>
            </a:pPr>
            <a:r>
              <a:rPr lang="en-US" sz="1200" dirty="0">
                <a:solidFill>
                  <a:schemeClr val="tx1"/>
                </a:solidFill>
              </a:rPr>
              <a:t>2 layers · h=64</a:t>
            </a:r>
            <a:endParaRPr lang="en-US" sz="1200" dirty="0"/>
          </a:p>
        </p:txBody>
      </p:sp>
      <p:sp>
        <p:nvSpPr>
          <p:cNvPr id="45" name="Shape 43"/>
          <p:cNvSpPr/>
          <p:nvPr/>
        </p:nvSpPr>
        <p:spPr>
          <a:xfrm>
            <a:off x="7454189" y="4201668"/>
            <a:ext cx="146304" cy="0"/>
          </a:xfrm>
          <a:prstGeom prst="line">
            <a:avLst/>
          </a:prstGeom>
          <a:noFill/>
          <a:ln w="15875">
            <a:solidFill>
              <a:schemeClr val="tx2"/>
            </a:solidFill>
            <a:prstDash val="solid"/>
            <a:tailEnd type="triangle"/>
          </a:ln>
        </p:spPr>
      </p:sp>
      <p:sp>
        <p:nvSpPr>
          <p:cNvPr id="46" name="Text 44"/>
          <p:cNvSpPr/>
          <p:nvPr/>
        </p:nvSpPr>
        <p:spPr>
          <a:xfrm>
            <a:off x="7618781" y="3835908"/>
            <a:ext cx="1157630" cy="731520"/>
          </a:xfrm>
          <a:prstGeom prst="rect">
            <a:avLst/>
          </a:prstGeom>
          <a:solidFill>
            <a:schemeClr val="bg1"/>
          </a:solidFill>
          <a:ln w="19050">
            <a:solidFill>
              <a:schemeClr val="accent1"/>
            </a:solidFill>
          </a:ln>
        </p:spPr>
        <p:txBody>
          <a:bodyPr wrap="square" lIns="25400" tIns="25400" rIns="25400" bIns="25400" rtlCol="0" anchor="ctr"/>
          <a:lstStyle/>
          <a:p>
            <a:pPr algn="ctr" indent="0" marL="0">
              <a:buNone/>
            </a:pPr>
            <a:r>
              <a:rPr lang="en-US" sz="1200" b="1" dirty="0">
                <a:solidFill>
                  <a:schemeClr val="tx1"/>
                </a:solidFill>
              </a:rPr>
              <a:t>Last time</a:t>
            </a:r>
            <a:endParaRPr lang="en-US" sz="1200" dirty="0"/>
          </a:p>
          <a:p>
            <a:pPr algn="ctr" indent="0" marL="0">
              <a:buNone/>
            </a:pPr>
            <a:r>
              <a:rPr lang="en-US" sz="1200" dirty="0">
                <a:solidFill>
                  <a:schemeClr val="tx1"/>
                </a:solidFill>
              </a:rPr>
              <a:t>step</a:t>
            </a:r>
            <a:endParaRPr lang="en-US" sz="1200" dirty="0"/>
          </a:p>
        </p:txBody>
      </p:sp>
      <p:sp>
        <p:nvSpPr>
          <p:cNvPr id="47" name="Shape 45"/>
          <p:cNvSpPr/>
          <p:nvPr/>
        </p:nvSpPr>
        <p:spPr>
          <a:xfrm>
            <a:off x="8794699" y="4201668"/>
            <a:ext cx="146304" cy="0"/>
          </a:xfrm>
          <a:prstGeom prst="line">
            <a:avLst/>
          </a:prstGeom>
          <a:noFill/>
          <a:ln w="15875">
            <a:solidFill>
              <a:schemeClr val="tx2"/>
            </a:solidFill>
            <a:prstDash val="solid"/>
            <a:tailEnd type="triangle"/>
          </a:ln>
        </p:spPr>
      </p:sp>
      <p:sp>
        <p:nvSpPr>
          <p:cNvPr id="48" name="Text 46"/>
          <p:cNvSpPr/>
          <p:nvPr/>
        </p:nvSpPr>
        <p:spPr>
          <a:xfrm>
            <a:off x="8959291" y="3835908"/>
            <a:ext cx="1157630" cy="731520"/>
          </a:xfrm>
          <a:prstGeom prst="rect">
            <a:avLst/>
          </a:prstGeom>
          <a:solidFill>
            <a:schemeClr val="bg1"/>
          </a:solidFill>
          <a:ln w="19050">
            <a:solidFill>
              <a:schemeClr val="accent1"/>
            </a:solidFill>
          </a:ln>
        </p:spPr>
        <p:txBody>
          <a:bodyPr wrap="square" lIns="25400" tIns="25400" rIns="25400" bIns="25400" rtlCol="0" anchor="ctr"/>
          <a:lstStyle/>
          <a:p>
            <a:pPr algn="ctr" indent="0" marL="0">
              <a:buNone/>
            </a:pPr>
            <a:r>
              <a:rPr lang="en-US" sz="1200" b="1" dirty="0">
                <a:solidFill>
                  <a:schemeClr val="tx1"/>
                </a:solidFill>
              </a:rPr>
              <a:t>FC 64→32</a:t>
            </a:r>
            <a:endParaRPr lang="en-US" sz="1200" dirty="0"/>
          </a:p>
          <a:p>
            <a:pPr algn="ctr" indent="0" marL="0">
              <a:buNone/>
            </a:pPr>
            <a:r>
              <a:rPr lang="en-US" sz="1200" dirty="0">
                <a:solidFill>
                  <a:schemeClr val="tx1"/>
                </a:solidFill>
              </a:rPr>
              <a:t>+ ReLU</a:t>
            </a:r>
            <a:endParaRPr lang="en-US" sz="1200" dirty="0"/>
          </a:p>
        </p:txBody>
      </p:sp>
      <p:sp>
        <p:nvSpPr>
          <p:cNvPr id="49" name="Shape 47"/>
          <p:cNvSpPr/>
          <p:nvPr/>
        </p:nvSpPr>
        <p:spPr>
          <a:xfrm>
            <a:off x="10135210" y="4201668"/>
            <a:ext cx="146304" cy="0"/>
          </a:xfrm>
          <a:prstGeom prst="line">
            <a:avLst/>
          </a:prstGeom>
          <a:noFill/>
          <a:ln w="15875">
            <a:solidFill>
              <a:schemeClr val="tx2"/>
            </a:solidFill>
            <a:prstDash val="solid"/>
            <a:tailEnd type="triangle"/>
          </a:ln>
        </p:spPr>
      </p:sp>
      <p:sp>
        <p:nvSpPr>
          <p:cNvPr id="50" name="Text 48"/>
          <p:cNvSpPr/>
          <p:nvPr/>
        </p:nvSpPr>
        <p:spPr>
          <a:xfrm>
            <a:off x="10299802" y="3835908"/>
            <a:ext cx="1157630" cy="731520"/>
          </a:xfrm>
          <a:prstGeom prst="rect">
            <a:avLst/>
          </a:prstGeom>
          <a:solidFill>
            <a:schemeClr val="bg1"/>
          </a:solidFill>
          <a:ln w="19050">
            <a:solidFill>
              <a:schemeClr val="accent1"/>
            </a:solidFill>
          </a:ln>
        </p:spPr>
        <p:txBody>
          <a:bodyPr wrap="square" lIns="25400" tIns="25400" rIns="25400" bIns="25400" rtlCol="0" anchor="ctr"/>
          <a:lstStyle/>
          <a:p>
            <a:pPr algn="ctr" indent="0" marL="0">
              <a:buNone/>
            </a:pPr>
            <a:r>
              <a:rPr lang="en-US" sz="1200" b="1" dirty="0">
                <a:solidFill>
                  <a:schemeClr val="tx1"/>
                </a:solidFill>
              </a:rPr>
              <a:t>FC 32→1</a:t>
            </a:r>
            <a:endParaRPr lang="en-US" sz="1200" dirty="0"/>
          </a:p>
          <a:p>
            <a:pPr algn="ctr" indent="0" marL="0">
              <a:buNone/>
            </a:pPr>
            <a:r>
              <a:rPr lang="en-US" sz="1200" dirty="0">
                <a:solidFill>
                  <a:schemeClr val="tx1"/>
                </a:solidFill>
              </a:rPr>
              <a:t>(SoH)</a:t>
            </a:r>
            <a:endParaRPr lang="en-US" sz="1200" dirty="0"/>
          </a:p>
        </p:txBody>
      </p:sp>
      <p:sp>
        <p:nvSpPr>
          <p:cNvPr id="51" name="TCN card"/>
          <p:cNvSpPr/>
          <p:nvPr/>
        </p:nvSpPr>
        <p:spPr>
          <a:xfrm>
            <a:off x="4754880" y="4892040"/>
            <a:ext cx="6885432" cy="1463040"/>
          </a:xfrm>
          <a:prstGeom prst="rect">
            <a:avLst/>
          </a:prstGeom>
          <a:solidFill>
            <a:schemeClr val="bg2"/>
          </a:solidFill>
          <a:ln w="12700">
            <a:solidFill>
              <a:schemeClr val="bg2"/>
            </a:solidFill>
            <a:prstDash val="solid"/>
          </a:ln>
        </p:spPr>
      </p:sp>
      <p:sp>
        <p:nvSpPr>
          <p:cNvPr id="52" name="Shape 50"/>
          <p:cNvSpPr/>
          <p:nvPr/>
        </p:nvSpPr>
        <p:spPr>
          <a:xfrm>
            <a:off x="4937760" y="5074920"/>
            <a:ext cx="146304" cy="146304"/>
          </a:xfrm>
          <a:prstGeom prst="rect">
            <a:avLst/>
          </a:prstGeom>
          <a:solidFill>
            <a:schemeClr val="accent2"/>
          </a:solidFill>
          <a:ln w="12700">
            <a:solidFill>
              <a:schemeClr val="accent2"/>
            </a:solidFill>
            <a:prstDash val="solid"/>
          </a:ln>
        </p:spPr>
      </p:sp>
      <p:sp>
        <p:nvSpPr>
          <p:cNvPr id="53" name="Text 51"/>
          <p:cNvSpPr txBox="1"/>
          <p:nvPr/>
        </p:nvSpPr>
        <p:spPr>
          <a:xfrm>
            <a:off x="5166360" y="4983480"/>
            <a:ext cx="822960" cy="329184"/>
          </a:xfrm>
          <a:prstGeom prst="rect">
            <a:avLst/>
          </a:prstGeom>
          <a:noFill/>
          <a:ln/>
        </p:spPr>
        <p:txBody>
          <a:bodyPr wrap="square" lIns="0" tIns="0" rIns="0" bIns="0" rtlCol="0" anchor="ctr"/>
          <a:lstStyle/>
          <a:p>
            <a:pPr indent="0" marL="0">
              <a:buNone/>
            </a:pPr>
            <a:r>
              <a:rPr lang="en-US" sz="1800" b="1" dirty="0">
                <a:solidFill>
                  <a:schemeClr val="tx1"/>
                </a:solidFill>
              </a:rPr>
              <a:t>TCN</a:t>
            </a:r>
            <a:endParaRPr lang="en-US" sz="1800" dirty="0"/>
          </a:p>
        </p:txBody>
      </p:sp>
      <p:sp>
        <p:nvSpPr>
          <p:cNvPr id="54" name="Text 52"/>
          <p:cNvSpPr txBox="1"/>
          <p:nvPr/>
        </p:nvSpPr>
        <p:spPr>
          <a:xfrm>
            <a:off x="6035040" y="4983480"/>
            <a:ext cx="5422392" cy="329184"/>
          </a:xfrm>
          <a:prstGeom prst="rect">
            <a:avLst/>
          </a:prstGeom>
          <a:noFill/>
          <a:ln/>
        </p:spPr>
        <p:txBody>
          <a:bodyPr wrap="square" lIns="0" tIns="0" rIns="0" bIns="0" rtlCol="0" anchor="ctr"/>
          <a:lstStyle/>
          <a:p>
            <a:pPr indent="0" marL="0">
              <a:buNone/>
            </a:pPr>
            <a:r>
              <a:rPr lang="en-US" sz="1200" dirty="0">
                <a:solidFill>
                  <a:schemeClr val="tx2"/>
                </a:solidFill>
              </a:rPr>
              <a:t>Day 17  ·  kernel 3  ·  dilations 1, 2, 4  ·  residual  ·  dropout 0.2</a:t>
            </a:r>
            <a:endParaRPr lang="en-US" sz="1200" dirty="0"/>
          </a:p>
        </p:txBody>
      </p:sp>
      <p:sp>
        <p:nvSpPr>
          <p:cNvPr id="55" name="Text 53"/>
          <p:cNvSpPr/>
          <p:nvPr/>
        </p:nvSpPr>
        <p:spPr>
          <a:xfrm>
            <a:off x="4937760" y="5458968"/>
            <a:ext cx="1157630" cy="731520"/>
          </a:xfrm>
          <a:prstGeom prst="rect">
            <a:avLst/>
          </a:prstGeom>
          <a:solidFill>
            <a:schemeClr val="bg1"/>
          </a:solidFill>
          <a:ln w="19050">
            <a:solidFill>
              <a:schemeClr val="accent2"/>
            </a:solidFill>
          </a:ln>
        </p:spPr>
        <p:txBody>
          <a:bodyPr wrap="square" lIns="25400" tIns="25400" rIns="25400" bIns="25400" rtlCol="0" anchor="ctr"/>
          <a:lstStyle/>
          <a:p>
            <a:pPr algn="ctr" indent="0" marL="0">
              <a:buNone/>
            </a:pPr>
            <a:r>
              <a:rPr lang="en-US" sz="1200" b="1" dirty="0">
                <a:solidFill>
                  <a:schemeClr val="tx1"/>
                </a:solidFill>
              </a:rPr>
              <a:t>Input</a:t>
            </a:r>
            <a:endParaRPr lang="en-US" sz="1200" dirty="0"/>
          </a:p>
          <a:p>
            <a:pPr algn="ctr" indent="0" marL="0">
              <a:buNone/>
            </a:pPr>
            <a:r>
              <a:rPr lang="en-US" sz="1200" dirty="0">
                <a:solidFill>
                  <a:schemeClr val="tx1"/>
                </a:solidFill>
              </a:rPr>
              <a:t>10 × 2</a:t>
            </a:r>
            <a:endParaRPr lang="en-US" sz="1200" dirty="0"/>
          </a:p>
        </p:txBody>
      </p:sp>
      <p:sp>
        <p:nvSpPr>
          <p:cNvPr id="56" name="Shape 54"/>
          <p:cNvSpPr/>
          <p:nvPr/>
        </p:nvSpPr>
        <p:spPr>
          <a:xfrm>
            <a:off x="6113678" y="5824728"/>
            <a:ext cx="146304" cy="0"/>
          </a:xfrm>
          <a:prstGeom prst="line">
            <a:avLst/>
          </a:prstGeom>
          <a:noFill/>
          <a:ln w="15875">
            <a:solidFill>
              <a:schemeClr val="tx2"/>
            </a:solidFill>
            <a:prstDash val="solid"/>
            <a:tailEnd type="triangle"/>
          </a:ln>
        </p:spPr>
      </p:sp>
      <p:sp>
        <p:nvSpPr>
          <p:cNvPr id="57" name="Text 55"/>
          <p:cNvSpPr/>
          <p:nvPr/>
        </p:nvSpPr>
        <p:spPr>
          <a:xfrm>
            <a:off x="6278270" y="5458968"/>
            <a:ext cx="1157630" cy="731520"/>
          </a:xfrm>
          <a:prstGeom prst="rect">
            <a:avLst/>
          </a:prstGeom>
          <a:solidFill>
            <a:schemeClr val="bg1"/>
          </a:solidFill>
          <a:ln w="19050">
            <a:solidFill>
              <a:schemeClr val="accent2"/>
            </a:solidFill>
          </a:ln>
        </p:spPr>
        <p:txBody>
          <a:bodyPr wrap="square" lIns="25400" tIns="25400" rIns="25400" bIns="25400" rtlCol="0" anchor="ctr"/>
          <a:lstStyle/>
          <a:p>
            <a:pPr algn="ctr" indent="0" marL="0">
              <a:buNone/>
            </a:pPr>
            <a:r>
              <a:rPr lang="en-US" sz="1200" b="1" dirty="0">
                <a:solidFill>
                  <a:schemeClr val="tx1"/>
                </a:solidFill>
              </a:rPr>
              <a:t>TemporalBlock</a:t>
            </a:r>
            <a:endParaRPr lang="en-US" sz="1200" dirty="0"/>
          </a:p>
          <a:p>
            <a:pPr algn="ctr" indent="0" marL="0">
              <a:buNone/>
            </a:pPr>
            <a:r>
              <a:rPr lang="en-US" sz="1200" dirty="0">
                <a:solidFill>
                  <a:schemeClr val="tx1"/>
                </a:solidFill>
              </a:rPr>
              <a:t>×3 (96, 96, 64)</a:t>
            </a:r>
            <a:endParaRPr lang="en-US" sz="1200" dirty="0"/>
          </a:p>
        </p:txBody>
      </p:sp>
      <p:sp>
        <p:nvSpPr>
          <p:cNvPr id="58" name="Shape 56"/>
          <p:cNvSpPr/>
          <p:nvPr/>
        </p:nvSpPr>
        <p:spPr>
          <a:xfrm>
            <a:off x="7454189" y="5824728"/>
            <a:ext cx="146304" cy="0"/>
          </a:xfrm>
          <a:prstGeom prst="line">
            <a:avLst/>
          </a:prstGeom>
          <a:noFill/>
          <a:ln w="15875">
            <a:solidFill>
              <a:schemeClr val="tx2"/>
            </a:solidFill>
            <a:prstDash val="solid"/>
            <a:tailEnd type="triangle"/>
          </a:ln>
        </p:spPr>
      </p:sp>
      <p:sp>
        <p:nvSpPr>
          <p:cNvPr id="59" name="Text 57"/>
          <p:cNvSpPr/>
          <p:nvPr/>
        </p:nvSpPr>
        <p:spPr>
          <a:xfrm>
            <a:off x="7618781" y="5458968"/>
            <a:ext cx="1157630" cy="731520"/>
          </a:xfrm>
          <a:prstGeom prst="rect">
            <a:avLst/>
          </a:prstGeom>
          <a:solidFill>
            <a:schemeClr val="bg1"/>
          </a:solidFill>
          <a:ln w="19050">
            <a:solidFill>
              <a:schemeClr val="accent2"/>
            </a:solidFill>
          </a:ln>
        </p:spPr>
        <p:txBody>
          <a:bodyPr wrap="square" lIns="25400" tIns="25400" rIns="25400" bIns="25400" rtlCol="0" anchor="ctr"/>
          <a:lstStyle/>
          <a:p>
            <a:pPr algn="ctr" indent="0" marL="0">
              <a:buNone/>
            </a:pPr>
            <a:r>
              <a:rPr lang="en-US" sz="1200" b="1" dirty="0">
                <a:solidFill>
                  <a:schemeClr val="tx1"/>
                </a:solidFill>
              </a:rPr>
              <a:t>Flatten</a:t>
            </a:r>
            <a:endParaRPr lang="en-US" sz="1200" dirty="0"/>
          </a:p>
          <a:p>
            <a:pPr algn="ctr" indent="0" marL="0">
              <a:buNone/>
            </a:pPr>
            <a:r>
              <a:rPr lang="en-US" sz="1200" dirty="0">
                <a:solidFill>
                  <a:schemeClr val="tx1"/>
                </a:solidFill>
              </a:rPr>
              <a:t>64×10 = 640</a:t>
            </a:r>
            <a:endParaRPr lang="en-US" sz="1200" dirty="0"/>
          </a:p>
        </p:txBody>
      </p:sp>
      <p:sp>
        <p:nvSpPr>
          <p:cNvPr id="60" name="Shape 58"/>
          <p:cNvSpPr/>
          <p:nvPr/>
        </p:nvSpPr>
        <p:spPr>
          <a:xfrm>
            <a:off x="8794699" y="5824728"/>
            <a:ext cx="146304" cy="0"/>
          </a:xfrm>
          <a:prstGeom prst="line">
            <a:avLst/>
          </a:prstGeom>
          <a:noFill/>
          <a:ln w="15875">
            <a:solidFill>
              <a:schemeClr val="tx2"/>
            </a:solidFill>
            <a:prstDash val="solid"/>
            <a:tailEnd type="triangle"/>
          </a:ln>
        </p:spPr>
      </p:sp>
      <p:sp>
        <p:nvSpPr>
          <p:cNvPr id="61" name="Text 59"/>
          <p:cNvSpPr/>
          <p:nvPr/>
        </p:nvSpPr>
        <p:spPr>
          <a:xfrm>
            <a:off x="8959291" y="5458968"/>
            <a:ext cx="1157630" cy="731520"/>
          </a:xfrm>
          <a:prstGeom prst="rect">
            <a:avLst/>
          </a:prstGeom>
          <a:solidFill>
            <a:schemeClr val="bg1"/>
          </a:solidFill>
          <a:ln w="19050">
            <a:solidFill>
              <a:schemeClr val="accent2"/>
            </a:solidFill>
          </a:ln>
        </p:spPr>
        <p:txBody>
          <a:bodyPr wrap="square" lIns="25400" tIns="25400" rIns="25400" bIns="25400" rtlCol="0" anchor="ctr"/>
          <a:lstStyle/>
          <a:p>
            <a:pPr algn="ctr" indent="0" marL="0">
              <a:buNone/>
            </a:pPr>
            <a:r>
              <a:rPr lang="en-US" sz="1200" b="1" dirty="0">
                <a:solidFill>
                  <a:schemeClr val="tx1"/>
                </a:solidFill>
              </a:rPr>
              <a:t>FC 640→64</a:t>
            </a:r>
            <a:endParaRPr lang="en-US" sz="1200" dirty="0"/>
          </a:p>
          <a:p>
            <a:pPr algn="ctr" indent="0" marL="0">
              <a:buNone/>
            </a:pPr>
            <a:r>
              <a:rPr lang="en-US" sz="1200" dirty="0">
                <a:solidFill>
                  <a:schemeClr val="tx1"/>
                </a:solidFill>
              </a:rPr>
              <a:t>ReLU · Drop</a:t>
            </a:r>
            <a:endParaRPr lang="en-US" sz="1200" dirty="0"/>
          </a:p>
        </p:txBody>
      </p:sp>
      <p:sp>
        <p:nvSpPr>
          <p:cNvPr id="62" name="Shape 60"/>
          <p:cNvSpPr/>
          <p:nvPr/>
        </p:nvSpPr>
        <p:spPr>
          <a:xfrm>
            <a:off x="10135210" y="5824728"/>
            <a:ext cx="146304" cy="0"/>
          </a:xfrm>
          <a:prstGeom prst="line">
            <a:avLst/>
          </a:prstGeom>
          <a:noFill/>
          <a:ln w="15875">
            <a:solidFill>
              <a:schemeClr val="tx2"/>
            </a:solidFill>
            <a:prstDash val="solid"/>
            <a:tailEnd type="triangle"/>
          </a:ln>
        </p:spPr>
      </p:sp>
      <p:sp>
        <p:nvSpPr>
          <p:cNvPr id="63" name="Text 61"/>
          <p:cNvSpPr/>
          <p:nvPr/>
        </p:nvSpPr>
        <p:spPr>
          <a:xfrm>
            <a:off x="10299802" y="5458968"/>
            <a:ext cx="1157630" cy="731520"/>
          </a:xfrm>
          <a:prstGeom prst="rect">
            <a:avLst/>
          </a:prstGeom>
          <a:solidFill>
            <a:schemeClr val="bg1"/>
          </a:solidFill>
          <a:ln w="19050">
            <a:solidFill>
              <a:schemeClr val="accent2"/>
            </a:solidFill>
          </a:ln>
        </p:spPr>
        <p:txBody>
          <a:bodyPr wrap="square" lIns="25400" tIns="25400" rIns="25400" bIns="25400" rtlCol="0" anchor="ctr"/>
          <a:lstStyle/>
          <a:p>
            <a:pPr algn="ctr" indent="0" marL="0">
              <a:buNone/>
            </a:pPr>
            <a:r>
              <a:rPr lang="en-US" sz="1200" b="1" dirty="0">
                <a:solidFill>
                  <a:schemeClr val="tx1"/>
                </a:solidFill>
              </a:rPr>
              <a:t>FC 64→1</a:t>
            </a:r>
            <a:endParaRPr lang="en-US" sz="1200" dirty="0"/>
          </a:p>
          <a:p>
            <a:pPr algn="ctr" indent="0" marL="0">
              <a:buNone/>
            </a:pPr>
            <a:r>
              <a:rPr lang="en-US" sz="1200" dirty="0">
                <a:solidFill>
                  <a:schemeClr val="tx1"/>
                </a:solidFill>
              </a:rPr>
              <a:t>(SoH)</a:t>
            </a:r>
            <a:endParaRPr lang="en-US" sz="1200" dirty="0"/>
          </a:p>
        </p:txBody>
      </p:sp>
      <p:sp>
        <p:nvSpPr>
          <p:cNvPr id="25" name="Slide Number Placeholder 0"/>
          <p:cNvSpPr>
            <a:spLocks noGrp="1"/>
          </p:cNvSpPr>
          <p:nvPr>
            <p:ph type="sldNum" sz="quarter" idx="4294967295"/>
          </p:nvPr>
        </p:nvSpPr>
        <p:spPr>
          <a:xfrm>
            <a:off x="11091672"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LSTM vs GRU vs TCN — Performance Comparison</a:t>
            </a:r>
            <a:endParaRPr lang="en-US" sz="3400" dirty="0"/>
          </a:p>
        </p:txBody>
      </p:sp>
      <p:graphicFrame>
        <p:nvGraphicFramePr>
          <p:cNvPr id="3" name="Comparison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914400"/>
        </p:xfrm>
        <a:graphic>
          <a:graphicData uri="http://schemas.openxmlformats.org/drawingml/2006/table">
            <a:tbl>
              <a:tblPr/>
              <a:tblGrid>
                <a:gridCol w="914400"/>
                <a:gridCol w="1143000"/>
                <a:gridCol w="1143000"/>
                <a:gridCol w="1920240"/>
                <a:gridCol w="1188720"/>
                <a:gridCol w="1463040"/>
                <a:gridCol w="1371600"/>
                <a:gridCol w="1947672"/>
              </a:tblGrid>
              <a:tr h="548640">
                <a:tc>
                  <a:txBody>
                    <a:bodyPr/>
                    <a:lstStyle/>
                    <a:p>
                      <a:pPr algn="ctr" indent="0" marL="0">
                        <a:buNone/>
                      </a:pPr>
                      <a:r>
                        <a:rPr lang="en-US" sz="1200" b="1" dirty="0">
                          <a:solidFill>
                            <a:schemeClr val="bg1"/>
                          </a:solidFill>
                        </a:rPr>
                        <a:t>Model</a:t>
                      </a:r>
                      <a:endParaRPr lang="en-US" sz="12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MAE</a:t>
                      </a:r>
                      <a:endParaRPr lang="en-US" sz="12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RMSE</a:t>
                      </a:r>
                      <a:endParaRPr lang="en-US" sz="12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MAPE</a:t>
                      </a:r>
                      <a:endParaRPr lang="en-US" sz="12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R²</a:t>
                      </a:r>
                      <a:endParaRPr lang="en-US" sz="12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Training Time</a:t>
                      </a:r>
                      <a:endParaRPr lang="en-US" sz="12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Inference Time</a:t>
                      </a:r>
                      <a:endParaRPr lang="en-US" sz="12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Parameters / Model Size</a:t>
                      </a:r>
                      <a:endParaRPr lang="en-US" sz="12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r>
              <a:tr h="457200">
                <a:tc>
                  <a:txBody>
                    <a:bodyPr/>
                    <a:lstStyle/>
                    <a:p>
                      <a:pPr algn="l" indent="0" marL="0">
                        <a:buNone/>
                      </a:pPr>
                      <a:r>
                        <a:rPr lang="en-US" sz="1300" b="1" dirty="0">
                          <a:solidFill>
                            <a:schemeClr val="tx1"/>
                          </a:solidFill>
                        </a:rPr>
                        <a:t>LSTM</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tx1"/>
                          </a:solidFill>
                        </a:rPr>
                        <a:t>0.154379</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tx1"/>
                          </a:solidFill>
                        </a:rPr>
                        <a:t>0.198999</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accent4"/>
                          </a:solidFill>
                        </a:rPr>
                        <a:t>3522685199974400 %*</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accent4"/>
                          </a:solidFill>
                        </a:rPr>
                        <a:t>−0.659925</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tx2"/>
                          </a:solidFill>
                        </a:rPr>
                        <a:t>Not recorded</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tx2"/>
                          </a:solidFill>
                        </a:rPr>
                        <a:t>Not recorded</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tx2"/>
                          </a:solidFill>
                        </a:rPr>
                        <a:t>Not recorded†</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algn="l" indent="0" marL="0">
                        <a:buNone/>
                      </a:pPr>
                      <a:r>
                        <a:rPr lang="en-US" sz="1300" b="1" dirty="0">
                          <a:solidFill>
                            <a:schemeClr val="tx1"/>
                          </a:solidFill>
                        </a:rPr>
                        <a:t>GRU</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tx1"/>
                          </a:solidFill>
                        </a:rPr>
                        <a:t>0.143874</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tx1"/>
                          </a:solidFill>
                        </a:rPr>
                        <a:t>0.195698</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tx1"/>
                          </a:solidFill>
                        </a:rPr>
                        <a:t>815.0989 %*</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accent4"/>
                          </a:solidFill>
                        </a:rPr>
                        <a:t>−0.605318</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tx2"/>
                          </a:solidFill>
                        </a:rPr>
                        <a:t>Not recorded</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tx2"/>
                          </a:solidFill>
                        </a:rPr>
                        <a:t>Not recorded</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ctr" indent="0" marL="0">
                        <a:buNone/>
                      </a:pPr>
                      <a:r>
                        <a:rPr lang="en-US" sz="1300" dirty="0">
                          <a:solidFill>
                            <a:schemeClr val="tx1"/>
                          </a:solidFill>
                        </a:rPr>
                        <a:t>40,129 params</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algn="l" indent="0" marL="0">
                        <a:buNone/>
                      </a:pPr>
                      <a:r>
                        <a:rPr lang="en-US" sz="1300" b="1" dirty="0">
                          <a:solidFill>
                            <a:schemeClr val="tx1"/>
                          </a:solidFill>
                        </a:rPr>
                        <a:t>TCN</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0.135121</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0.184981</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861.2237 %*</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4"/>
                          </a:solidFill>
                        </a:rPr>
                        <a:t>−0.434305</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47.4 s</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Not recorded</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162,337 params</a:t>
                      </a:r>
                      <a:endParaRPr lang="en-US" sz="1300" dirty="0"/>
                    </a:p>
                  </a:txBody>
                  <a:tcPr marL="73152" marR="73152" marT="0" marB="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3200400"/>
            <a:ext cx="11091672" cy="566928"/>
          </a:xfrm>
          <a:prstGeom prst="rect">
            <a:avLst/>
          </a:prstGeom>
          <a:noFill/>
          <a:ln/>
        </p:spPr>
        <p:txBody>
          <a:bodyPr wrap="square" lIns="0" tIns="0" rIns="0" bIns="0" rtlCol="0" anchor="t"/>
          <a:lstStyle/>
          <a:p>
            <a:pPr indent="0" marL="0">
              <a:buNone/>
            </a:pPr>
            <a:r>
              <a:rPr lang="en-US" sz="1100" dirty="0">
                <a:solidFill>
                  <a:schemeClr val="tx2"/>
                </a:solidFill>
              </a:rPr>
              <a:t>Test set (392 sequences), values as printed in the notebooks. * LSTM MAPE uses sklearn's unclipped formula; GRU and TCN use a denominator clipped at 1e-3, so MAPE is not comparable across rows. † Day 15 prints no parameter count; 52,801 follows from its printed architecture (same arithmetic reproduces GRU 40,129 and TCN 162,337). Model file size is not recorded in any notebook.</a:t>
            </a:r>
            <a:endParaRPr lang="en-US" sz="1100" dirty="0"/>
          </a:p>
        </p:txBody>
      </p:sp>
      <p:graphicFrame>
        <p:nvGraphicFramePr>
          <p:cNvPr id="5" name="MAE RMSE chart" descr=""/>
          <p:cNvGraphicFramePr/>
          <p:nvPr/>
        </p:nvGraphicFramePr>
        <p:xfrm>
          <a:off x="548640" y="3931920"/>
          <a:ext cx="4846320" cy="24231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669280" y="3931920"/>
            <a:ext cx="5971032" cy="320040"/>
          </a:xfrm>
          <a:prstGeom prst="rect">
            <a:avLst/>
          </a:prstGeom>
          <a:noFill/>
          <a:ln/>
        </p:spPr>
        <p:txBody>
          <a:bodyPr wrap="square" lIns="0" tIns="0" rIns="0" bIns="0" rtlCol="0" anchor="ctr"/>
          <a:lstStyle/>
          <a:p>
            <a:pPr indent="0" marL="0">
              <a:buNone/>
            </a:pPr>
            <a:r>
              <a:rPr lang="en-US" sz="1800" b="1" dirty="0">
                <a:solidFill>
                  <a:schemeClr val="tx1"/>
                </a:solidFill>
              </a:rPr>
              <a:t>Key findings</a:t>
            </a:r>
            <a:endParaRPr lang="en-US" sz="1800" dirty="0"/>
          </a:p>
        </p:txBody>
      </p:sp>
      <p:sp>
        <p:nvSpPr>
          <p:cNvPr id="7" name="Text 3"/>
          <p:cNvSpPr txBox="1"/>
          <p:nvPr/>
        </p:nvSpPr>
        <p:spPr>
          <a:xfrm>
            <a:off x="5669280" y="4315968"/>
            <a:ext cx="5971032" cy="2057400"/>
          </a:xfrm>
          <a:prstGeom prst="rect">
            <a:avLst/>
          </a:prstGeom>
          <a:noFill/>
          <a:ln/>
        </p:spPr>
        <p:txBody>
          <a:bodyPr wrap="square" lIns="0" tIns="0" rIns="0" bIns="0" rtlCol="0" anchor="t"/>
          <a:lstStyle/>
          <a:p>
            <a:pPr marL="342900" indent="-342900">
              <a:spcAft>
                <a:spcPts val="400"/>
              </a:spcAft>
              <a:buSzPct val="100000"/>
              <a:buChar char="•"/>
            </a:pPr>
            <a:r>
              <a:rPr lang="en-US" sz="1400" b="1" dirty="0">
                <a:solidFill>
                  <a:schemeClr val="tx1"/>
                </a:solidFill>
              </a:rPr>
              <a:t>TCN is best on every error metric: </a:t>
            </a:r>
            <a:r>
              <a:rPr lang="en-US" sz="1400" dirty="0">
                <a:solidFill>
                  <a:schemeClr val="tx1"/>
                </a:solidFill>
              </a:rPr>
              <a:t>MAE 0.135121, RMSE 0.184981, R² −0.434305.</a:t>
            </a:r>
            <a:endParaRPr lang="en-US" sz="1400" dirty="0"/>
          </a:p>
          <a:p>
            <a:pPr marL="342900" indent="-342900">
              <a:spcAft>
                <a:spcPts val="400"/>
              </a:spcAft>
              <a:buSzPct val="100000"/>
              <a:buChar char="•"/>
            </a:pPr>
            <a:r>
              <a:rPr lang="en-US" sz="1400" b="1" dirty="0">
                <a:solidFill>
                  <a:schemeClr val="tx1"/>
                </a:solidFill>
              </a:rPr>
              <a:t>Ranking is TCN &lt; GRU &lt; LSTM </a:t>
            </a:r>
            <a:r>
              <a:rPr lang="en-US" sz="1400" dirty="0">
                <a:solidFill>
                  <a:schemeClr val="tx1"/>
                </a:solidFill>
              </a:rPr>
              <a:t>on both MAE and RMSE (lower is better).</a:t>
            </a:r>
            <a:endParaRPr lang="en-US" sz="1400" dirty="0"/>
          </a:p>
          <a:p>
            <a:pPr marL="342900" indent="-342900">
              <a:spcAft>
                <a:spcPts val="400"/>
              </a:spcAft>
              <a:buSzPct val="100000"/>
              <a:buChar char="•"/>
            </a:pPr>
            <a:r>
              <a:rPr lang="en-US" sz="1400" b="1" dirty="0">
                <a:solidFill>
                  <a:schemeClr val="tx1"/>
                </a:solidFill>
              </a:rPr>
              <a:t>R² is negative for all three models </a:t>
            </a:r>
            <a:r>
              <a:rPr lang="en-US" sz="1400" dirty="0">
                <a:solidFill>
                  <a:schemeClr val="tx1"/>
                </a:solidFill>
              </a:rPr>
              <a:t>— none beats predicting the mean on the test set.</a:t>
            </a:r>
            <a:endParaRPr lang="en-US" sz="1400" dirty="0"/>
          </a:p>
          <a:p>
            <a:pPr marL="342900" indent="-342900">
              <a:spcAft>
                <a:spcPts val="400"/>
              </a:spcAft>
              <a:buSzPct val="100000"/>
              <a:buChar char="•"/>
            </a:pPr>
            <a:r>
              <a:rPr lang="en-US" sz="1400" b="1" dirty="0">
                <a:solidFill>
                  <a:schemeClr val="tx1"/>
                </a:solidFill>
              </a:rPr>
              <a:t>GRU is the smallest recorded model </a:t>
            </a:r>
            <a:r>
              <a:rPr lang="en-US" sz="1400" dirty="0">
                <a:solidFill>
                  <a:schemeClr val="tx1"/>
                </a:solidFill>
              </a:rPr>
              <a:t>(40,129 params); TCN has 162,337, about 4× GRU.</a:t>
            </a:r>
            <a:endParaRPr lang="en-US" sz="1400" dirty="0"/>
          </a:p>
          <a:p>
            <a:pPr marL="342900" indent="-342900">
              <a:spcAft>
                <a:spcPts val="400"/>
              </a:spcAft>
              <a:buSzPct val="100000"/>
              <a:buChar char="•"/>
            </a:pPr>
            <a:r>
              <a:rPr lang="en-US" sz="1400" b="1" dirty="0">
                <a:solidFill>
                  <a:schemeClr val="tx1"/>
                </a:solidFill>
              </a:rPr>
              <a:t>MAPE cannot rank the models: </a:t>
            </a:r>
            <a:r>
              <a:rPr lang="en-US" sz="1400" dirty="0">
                <a:solidFill>
                  <a:schemeClr val="tx1"/>
                </a:solidFill>
              </a:rPr>
              <a:t>SoH targets include 0.0.</a:t>
            </a:r>
            <a:endParaRPr lang="en-US" sz="1400" dirty="0"/>
          </a:p>
        </p:txBody>
      </p:sp>
      <p:sp>
        <p:nvSpPr>
          <p:cNvPr id="25" name="Slide Number Placeholder 0"/>
          <p:cNvSpPr>
            <a:spLocks noGrp="1"/>
          </p:cNvSpPr>
          <p:nvPr>
            <p:ph type="sldNum" sz="quarter" idx="4294967295"/>
          </p:nvPr>
        </p:nvSpPr>
        <p:spPr>
          <a:xfrm>
            <a:off x="11091672"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Model Comparison &amp; Next Steps</a:t>
            </a:r>
            <a:endParaRPr lang="en-US" sz="3400" dirty="0"/>
          </a:p>
        </p:txBody>
      </p:sp>
      <p:sp>
        <p:nvSpPr>
          <p:cNvPr id="3" name="Panel Observations"/>
          <p:cNvSpPr/>
          <p:nvPr/>
        </p:nvSpPr>
        <p:spPr>
          <a:xfrm>
            <a:off x="548640" y="1280160"/>
            <a:ext cx="3246120" cy="5029200"/>
          </a:xfrm>
          <a:prstGeom prst="rect">
            <a:avLst/>
          </a:prstGeom>
          <a:solidFill>
            <a:schemeClr val="bg2"/>
          </a:solidFill>
          <a:ln w="12700">
            <a:solidFill>
              <a:schemeClr val="bg2"/>
            </a:solidFill>
            <a:prstDash val="solid"/>
          </a:ln>
        </p:spPr>
      </p:sp>
      <p:sp>
        <p:nvSpPr>
          <p:cNvPr id="4" name="Text 2"/>
          <p:cNvSpPr/>
          <p:nvPr/>
        </p:nvSpPr>
        <p:spPr>
          <a:xfrm>
            <a:off x="731520" y="1444752"/>
            <a:ext cx="365760" cy="36576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207008" y="1444752"/>
            <a:ext cx="2423160" cy="365760"/>
          </a:xfrm>
          <a:prstGeom prst="rect">
            <a:avLst/>
          </a:prstGeom>
          <a:noFill/>
          <a:ln/>
        </p:spPr>
        <p:txBody>
          <a:bodyPr wrap="square" lIns="0" tIns="0" rIns="0" bIns="0" rtlCol="0" anchor="ctr"/>
          <a:lstStyle/>
          <a:p>
            <a:pPr indent="0" marL="0">
              <a:buNone/>
            </a:pPr>
            <a:r>
              <a:rPr lang="en-US" sz="1400" b="1" dirty="0">
                <a:solidFill>
                  <a:schemeClr val="tx1"/>
                </a:solidFill>
              </a:rPr>
              <a:t>OBSERVATIONS</a:t>
            </a:r>
            <a:endParaRPr lang="en-US" sz="1400" dirty="0"/>
          </a:p>
        </p:txBody>
      </p:sp>
      <p:sp>
        <p:nvSpPr>
          <p:cNvPr id="6" name="Panel Limitations"/>
          <p:cNvSpPr/>
          <p:nvPr/>
        </p:nvSpPr>
        <p:spPr>
          <a:xfrm>
            <a:off x="4023360" y="1280160"/>
            <a:ext cx="4069080" cy="5029200"/>
          </a:xfrm>
          <a:prstGeom prst="rect">
            <a:avLst/>
          </a:prstGeom>
          <a:solidFill>
            <a:schemeClr val="bg2"/>
          </a:solidFill>
          <a:ln w="12700">
            <a:solidFill>
              <a:schemeClr val="bg2"/>
            </a:solidFill>
            <a:prstDash val="solid"/>
          </a:ln>
        </p:spPr>
      </p:sp>
      <p:sp>
        <p:nvSpPr>
          <p:cNvPr id="7" name="Text 5"/>
          <p:cNvSpPr/>
          <p:nvPr/>
        </p:nvSpPr>
        <p:spPr>
          <a:xfrm>
            <a:off x="4206240" y="1444752"/>
            <a:ext cx="365760" cy="36576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4681728" y="1444752"/>
            <a:ext cx="3246120" cy="365760"/>
          </a:xfrm>
          <a:prstGeom prst="rect">
            <a:avLst/>
          </a:prstGeom>
          <a:noFill/>
          <a:ln/>
        </p:spPr>
        <p:txBody>
          <a:bodyPr wrap="square" lIns="0" tIns="0" rIns="0" bIns="0" rtlCol="0" anchor="ctr"/>
          <a:lstStyle/>
          <a:p>
            <a:pPr indent="0" marL="0">
              <a:buNone/>
            </a:pPr>
            <a:r>
              <a:rPr lang="en-US" sz="1400" b="1" dirty="0">
                <a:solidFill>
                  <a:schemeClr val="tx1"/>
                </a:solidFill>
              </a:rPr>
              <a:t>LIMITATIONS</a:t>
            </a:r>
            <a:endParaRPr lang="en-US" sz="1400" dirty="0"/>
          </a:p>
        </p:txBody>
      </p:sp>
      <p:sp>
        <p:nvSpPr>
          <p:cNvPr id="9" name="Panel Shortlist / Next experiment"/>
          <p:cNvSpPr/>
          <p:nvPr/>
        </p:nvSpPr>
        <p:spPr>
          <a:xfrm>
            <a:off x="8321040" y="1280160"/>
            <a:ext cx="3319272" cy="5029200"/>
          </a:xfrm>
          <a:prstGeom prst="rect">
            <a:avLst/>
          </a:prstGeom>
          <a:solidFill>
            <a:schemeClr val="bg2"/>
          </a:solidFill>
          <a:ln w="12700">
            <a:solidFill>
              <a:schemeClr val="bg2"/>
            </a:solidFill>
            <a:prstDash val="solid"/>
          </a:ln>
        </p:spPr>
      </p:sp>
      <p:sp>
        <p:nvSpPr>
          <p:cNvPr id="10" name="Text 8"/>
          <p:cNvSpPr/>
          <p:nvPr/>
        </p:nvSpPr>
        <p:spPr>
          <a:xfrm>
            <a:off x="8503920" y="1444752"/>
            <a:ext cx="365760" cy="36576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8979408" y="1444752"/>
            <a:ext cx="2496312" cy="365760"/>
          </a:xfrm>
          <a:prstGeom prst="rect">
            <a:avLst/>
          </a:prstGeom>
          <a:noFill/>
          <a:ln/>
        </p:spPr>
        <p:txBody>
          <a:bodyPr wrap="square" lIns="0" tIns="0" rIns="0" bIns="0" rtlCol="0" anchor="ctr"/>
          <a:lstStyle/>
          <a:p>
            <a:pPr indent="0" marL="0">
              <a:buNone/>
            </a:pPr>
            <a:r>
              <a:rPr lang="en-US" sz="1400" b="1" dirty="0">
                <a:solidFill>
                  <a:schemeClr val="tx1"/>
                </a:solidFill>
              </a:rPr>
              <a:t>SHORTLIST / NEXT EXPERIMENT</a:t>
            </a:r>
            <a:endParaRPr lang="en-US" sz="1400" dirty="0"/>
          </a:p>
        </p:txBody>
      </p:sp>
      <p:sp>
        <p:nvSpPr>
          <p:cNvPr id="12" name="Text 10"/>
          <p:cNvSpPr txBox="1"/>
          <p:nvPr/>
        </p:nvSpPr>
        <p:spPr>
          <a:xfrm>
            <a:off x="731520" y="2011680"/>
            <a:ext cx="2880360" cy="374904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Best: TCN. </a:t>
            </a:r>
            <a:r>
              <a:rPr lang="en-US" sz="1500" dirty="0">
                <a:solidFill>
                  <a:schemeClr val="tx1"/>
                </a:solidFill>
              </a:rPr>
              <a:t>MAE 0.135121, RMSE 0.184981, R² −0.434305.</a:t>
            </a:r>
            <a:endParaRPr lang="en-US" sz="1500" dirty="0"/>
          </a:p>
          <a:p>
            <a:pPr marL="342900" indent="-342900">
              <a:spcAft>
                <a:spcPts val="800"/>
              </a:spcAft>
              <a:buSzPct val="100000"/>
              <a:buChar char="•"/>
            </a:pPr>
            <a:r>
              <a:rPr lang="en-US" sz="1500" b="1" dirty="0">
                <a:solidFill>
                  <a:schemeClr val="tx1"/>
                </a:solidFill>
              </a:rPr>
              <a:t>Lightest: GRU, </a:t>
            </a:r>
            <a:r>
              <a:rPr lang="en-US" sz="1500" dirty="0">
                <a:solidFill>
                  <a:schemeClr val="tx1"/>
                </a:solidFill>
              </a:rPr>
              <a:t>40,129 params (LSTM 52,801†, TCN 162,337).</a:t>
            </a:r>
            <a:endParaRPr lang="en-US" sz="1500" dirty="0"/>
          </a:p>
          <a:p>
            <a:pPr marL="342900" indent="-342900">
              <a:spcAft>
                <a:spcPts val="800"/>
              </a:spcAft>
              <a:buSzPct val="100000"/>
              <a:buChar char="•"/>
            </a:pPr>
            <a:r>
              <a:rPr lang="en-US" sz="1500" b="1" dirty="0">
                <a:solidFill>
                  <a:schemeClr val="tx1"/>
                </a:solidFill>
              </a:rPr>
              <a:t>Different designs: </a:t>
            </a:r>
            <a:r>
              <a:rPr lang="en-US" sz="1500" dirty="0">
                <a:solidFill>
                  <a:schemeClr val="tx1"/>
                </a:solidFill>
              </a:rPr>
              <a:t>LSTM and GRU read the last time step; TCN uses dilated residual convolutions over all 10 steps.</a:t>
            </a:r>
            <a:endParaRPr lang="en-US" sz="1500" dirty="0"/>
          </a:p>
          <a:p>
            <a:pPr marL="342900" indent="-342900">
              <a:spcAft>
                <a:spcPts val="800"/>
              </a:spcAft>
              <a:buSzPct val="100000"/>
              <a:buChar char="•"/>
            </a:pPr>
            <a:r>
              <a:rPr lang="en-US" sz="1500" b="1" dirty="0">
                <a:solidFill>
                  <a:schemeClr val="tx1"/>
                </a:solidFill>
              </a:rPr>
              <a:t>Gaps are small: </a:t>
            </a:r>
            <a:r>
              <a:rPr lang="en-US" sz="1500" dirty="0">
                <a:solidFill>
                  <a:schemeClr val="tx1"/>
                </a:solidFill>
              </a:rPr>
              <a:t>TCN beats GRU by 0.0088 MAE and LSTM by 0.0193.</a:t>
            </a:r>
            <a:endParaRPr lang="en-US" sz="1500" dirty="0"/>
          </a:p>
        </p:txBody>
      </p:sp>
      <p:sp>
        <p:nvSpPr>
          <p:cNvPr id="13" name="Text 11"/>
          <p:cNvSpPr txBox="1"/>
          <p:nvPr/>
        </p:nvSpPr>
        <p:spPr>
          <a:xfrm>
            <a:off x="731520" y="5943600"/>
            <a:ext cx="2880360" cy="228600"/>
          </a:xfrm>
          <a:prstGeom prst="rect">
            <a:avLst/>
          </a:prstGeom>
          <a:noFill/>
          <a:ln/>
        </p:spPr>
        <p:txBody>
          <a:bodyPr wrap="square" lIns="0" tIns="0" rIns="0" bIns="0" rtlCol="0" anchor="ctr"/>
          <a:lstStyle/>
          <a:p>
            <a:pPr indent="0" marL="0">
              <a:buNone/>
            </a:pPr>
            <a:r>
              <a:rPr lang="en-US" sz="1000" dirty="0">
                <a:solidFill>
                  <a:schemeClr val="tx2"/>
                </a:solidFill>
              </a:rPr>
              <a:t>† derived from the printed architecture</a:t>
            </a:r>
            <a:endParaRPr lang="en-US" sz="1000" dirty="0"/>
          </a:p>
        </p:txBody>
      </p:sp>
      <p:sp>
        <p:nvSpPr>
          <p:cNvPr id="14" name="Text 12"/>
          <p:cNvSpPr txBox="1"/>
          <p:nvPr/>
        </p:nvSpPr>
        <p:spPr>
          <a:xfrm>
            <a:off x="4206240" y="2011680"/>
            <a:ext cx="3703320" cy="425196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1"/>
                </a:solidFill>
              </a:rPr>
              <a:t>R² negative </a:t>
            </a:r>
            <a:r>
              <a:rPr lang="en-US" sz="1500" dirty="0">
                <a:solidFill>
                  <a:schemeClr val="tx1"/>
                </a:solidFill>
              </a:rPr>
              <a:t>for all three (−0.434 to −0.660).</a:t>
            </a:r>
            <a:endParaRPr lang="en-US" sz="1500" dirty="0"/>
          </a:p>
          <a:p>
            <a:pPr marL="342900" indent="-342900">
              <a:spcAft>
                <a:spcPts val="600"/>
              </a:spcAft>
              <a:buSzPct val="100000"/>
              <a:buChar char="•"/>
            </a:pPr>
            <a:r>
              <a:rPr lang="en-US" sz="1500" b="1" dirty="0">
                <a:solidFill>
                  <a:schemeClr val="tx1"/>
                </a:solidFill>
              </a:rPr>
              <a:t>Early overfitting: </a:t>
            </a:r>
            <a:r>
              <a:rPr lang="en-US" sz="1500" dirty="0">
                <a:solidFill>
                  <a:schemeClr val="tx1"/>
                </a:solidFill>
              </a:rPr>
              <a:t>LSTM and GRU best val loss at epoch 2, ~0.088 by epoch 30; TCN val loss swings 0.053–0.083.</a:t>
            </a:r>
            <a:endParaRPr lang="en-US" sz="1500" dirty="0"/>
          </a:p>
          <a:p>
            <a:pPr marL="342900" indent="-342900">
              <a:spcAft>
                <a:spcPts val="600"/>
              </a:spcAft>
              <a:buSzPct val="100000"/>
              <a:buChar char="•"/>
            </a:pPr>
            <a:r>
              <a:rPr lang="en-US" sz="1500" b="1" dirty="0">
                <a:solidFill>
                  <a:schemeClr val="tx1"/>
                </a:solidFill>
              </a:rPr>
              <a:t>Failure pattern: </a:t>
            </a:r>
            <a:r>
              <a:rPr lang="en-US" sz="1500" dirty="0">
                <a:solidFill>
                  <a:schemeClr val="tx1"/>
                </a:solidFill>
              </a:rPr>
              <a:t>predictions sit in flat bands (~0.5–0.55, ~0.65–0.72) while actual SoH varies; SoH ≈ 0 predicted ≈ 0.5.</a:t>
            </a:r>
            <a:endParaRPr lang="en-US" sz="1500" dirty="0"/>
          </a:p>
          <a:p>
            <a:pPr marL="342900" indent="-342900">
              <a:spcAft>
                <a:spcPts val="600"/>
              </a:spcAft>
              <a:buSzPct val="100000"/>
              <a:buChar char="•"/>
            </a:pPr>
            <a:r>
              <a:rPr lang="en-US" sz="1500" b="1" dirty="0">
                <a:solidFill>
                  <a:schemeClr val="tx1"/>
                </a:solidFill>
              </a:rPr>
              <a:t>MAPE unreliable: </a:t>
            </a:r>
            <a:r>
              <a:rPr lang="en-US" sz="1500" dirty="0">
                <a:solidFill>
                  <a:schemeClr val="tx1"/>
                </a:solidFill>
              </a:rPr>
              <a:t>targets include SoH = 0; LSTM 3.5×10¹⁵ %, GRU/TCN &gt;800 %.</a:t>
            </a:r>
            <a:endParaRPr lang="en-US" sz="1500" dirty="0"/>
          </a:p>
          <a:p>
            <a:pPr marL="342900" indent="-342900">
              <a:spcAft>
                <a:spcPts val="600"/>
              </a:spcAft>
              <a:buSzPct val="100000"/>
              <a:buChar char="•"/>
            </a:pPr>
            <a:r>
              <a:rPr lang="en-US" sz="1500" b="1" dirty="0">
                <a:solidFill>
                  <a:schemeClr val="tx1"/>
                </a:solidFill>
              </a:rPr>
              <a:t>Small input: </a:t>
            </a:r>
            <a:r>
              <a:rPr lang="en-US" sz="1500" dirty="0">
                <a:solidFill>
                  <a:schemeClr val="tx1"/>
                </a:solidFill>
              </a:rPr>
              <a:t>2 features, sequence length 10, 1,516 train sequences; one run each.</a:t>
            </a:r>
            <a:endParaRPr lang="en-US" sz="1500" dirty="0"/>
          </a:p>
          <a:p>
            <a:pPr marL="342900" indent="-342900">
              <a:spcAft>
                <a:spcPts val="600"/>
              </a:spcAft>
              <a:buSzPct val="100000"/>
              <a:buChar char="•"/>
            </a:pPr>
            <a:r>
              <a:rPr lang="en-US" sz="1500" b="1" dirty="0">
                <a:solidFill>
                  <a:schemeClr val="tx1"/>
                </a:solidFill>
              </a:rPr>
              <a:t>Missing: </a:t>
            </a:r>
            <a:r>
              <a:rPr lang="en-US" sz="1500" dirty="0">
                <a:solidFill>
                  <a:schemeClr val="tx1"/>
                </a:solidFill>
              </a:rPr>
              <a:t>inference time and model size for all; training time for LSTM and GRU.</a:t>
            </a:r>
            <a:endParaRPr lang="en-US" sz="1500" dirty="0"/>
          </a:p>
        </p:txBody>
      </p:sp>
      <p:sp>
        <p:nvSpPr>
          <p:cNvPr id="15" name="BEST PREDICTIVE PERFORMANCE"/>
          <p:cNvSpPr/>
          <p:nvPr/>
        </p:nvSpPr>
        <p:spPr>
          <a:xfrm>
            <a:off x="8503920" y="1993392"/>
            <a:ext cx="2953512" cy="1188720"/>
          </a:xfrm>
          <a:prstGeom prst="rect">
            <a:avLst/>
          </a:prstGeom>
          <a:solidFill>
            <a:schemeClr val="bg1"/>
          </a:solidFill>
          <a:ln w="12700">
            <a:solidFill>
              <a:schemeClr val="accent6"/>
            </a:solidFill>
            <a:prstDash val="solid"/>
          </a:ln>
        </p:spPr>
      </p:sp>
      <p:sp>
        <p:nvSpPr>
          <p:cNvPr id="16" name="Shape 14"/>
          <p:cNvSpPr/>
          <p:nvPr/>
        </p:nvSpPr>
        <p:spPr>
          <a:xfrm>
            <a:off x="8641080" y="2148840"/>
            <a:ext cx="128016" cy="128016"/>
          </a:xfrm>
          <a:prstGeom prst="rect">
            <a:avLst/>
          </a:prstGeom>
          <a:solidFill>
            <a:schemeClr val="accent2"/>
          </a:solidFill>
          <a:ln w="12700">
            <a:solidFill>
              <a:schemeClr val="accent2"/>
            </a:solidFill>
            <a:prstDash val="solid"/>
          </a:ln>
        </p:spPr>
      </p:sp>
      <p:sp>
        <p:nvSpPr>
          <p:cNvPr id="17" name="Text 15"/>
          <p:cNvSpPr txBox="1"/>
          <p:nvPr/>
        </p:nvSpPr>
        <p:spPr>
          <a:xfrm>
            <a:off x="8851392" y="2084832"/>
            <a:ext cx="2496312" cy="256032"/>
          </a:xfrm>
          <a:prstGeom prst="rect">
            <a:avLst/>
          </a:prstGeom>
          <a:noFill/>
          <a:ln/>
        </p:spPr>
        <p:txBody>
          <a:bodyPr wrap="square" lIns="0" tIns="0" rIns="0" bIns="0" rtlCol="0" anchor="ctr"/>
          <a:lstStyle/>
          <a:p>
            <a:pPr indent="0" marL="0">
              <a:buNone/>
            </a:pPr>
            <a:r>
              <a:rPr lang="en-US" sz="1100" b="1" dirty="0">
                <a:solidFill>
                  <a:schemeClr val="tx2"/>
                </a:solidFill>
              </a:rPr>
              <a:t>BEST PREDICTIVE PERFORMANCE</a:t>
            </a:r>
            <a:endParaRPr lang="en-US" sz="1100" dirty="0"/>
          </a:p>
        </p:txBody>
      </p:sp>
      <p:sp>
        <p:nvSpPr>
          <p:cNvPr id="18" name="Text 16"/>
          <p:cNvSpPr txBox="1"/>
          <p:nvPr/>
        </p:nvSpPr>
        <p:spPr>
          <a:xfrm>
            <a:off x="8641080" y="2359152"/>
            <a:ext cx="731520" cy="320040"/>
          </a:xfrm>
          <a:prstGeom prst="rect">
            <a:avLst/>
          </a:prstGeom>
          <a:noFill/>
          <a:ln/>
        </p:spPr>
        <p:txBody>
          <a:bodyPr wrap="square" lIns="0" tIns="0" rIns="0" bIns="0" rtlCol="0" anchor="ctr"/>
          <a:lstStyle/>
          <a:p>
            <a:pPr indent="0" marL="0">
              <a:buNone/>
            </a:pPr>
            <a:r>
              <a:rPr lang="en-US" sz="2000" b="1" dirty="0">
                <a:solidFill>
                  <a:schemeClr val="tx1"/>
                </a:solidFill>
              </a:rPr>
              <a:t>TCN</a:t>
            </a:r>
            <a:endParaRPr lang="en-US" sz="2000" dirty="0"/>
          </a:p>
        </p:txBody>
      </p:sp>
      <p:sp>
        <p:nvSpPr>
          <p:cNvPr id="19" name="Text 17"/>
          <p:cNvSpPr txBox="1"/>
          <p:nvPr/>
        </p:nvSpPr>
        <p:spPr>
          <a:xfrm>
            <a:off x="8641080" y="2688336"/>
            <a:ext cx="2679192" cy="457200"/>
          </a:xfrm>
          <a:prstGeom prst="rect">
            <a:avLst/>
          </a:prstGeom>
          <a:noFill/>
          <a:ln/>
        </p:spPr>
        <p:txBody>
          <a:bodyPr wrap="square" lIns="0" tIns="0" rIns="0" bIns="0" rtlCol="0" anchor="t"/>
          <a:lstStyle/>
          <a:p>
            <a:pPr indent="0" marL="0">
              <a:buNone/>
            </a:pPr>
            <a:r>
              <a:rPr lang="en-US" sz="1300" dirty="0">
                <a:solidFill>
                  <a:schemeClr val="tx1"/>
                </a:solidFill>
              </a:rPr>
              <a:t>Lowest MAE / RMSE, highest R² (still negative).</a:t>
            </a:r>
            <a:endParaRPr lang="en-US" sz="1300" dirty="0"/>
          </a:p>
        </p:txBody>
      </p:sp>
      <p:sp>
        <p:nvSpPr>
          <p:cNvPr id="20" name="LIGHTWEIGHT / EFFICIENT"/>
          <p:cNvSpPr/>
          <p:nvPr/>
        </p:nvSpPr>
        <p:spPr>
          <a:xfrm>
            <a:off x="8503920" y="3291840"/>
            <a:ext cx="2953512" cy="1188720"/>
          </a:xfrm>
          <a:prstGeom prst="rect">
            <a:avLst/>
          </a:prstGeom>
          <a:solidFill>
            <a:schemeClr val="bg1"/>
          </a:solidFill>
          <a:ln w="12700">
            <a:solidFill>
              <a:schemeClr val="accent6"/>
            </a:solidFill>
            <a:prstDash val="solid"/>
          </a:ln>
        </p:spPr>
      </p:sp>
      <p:sp>
        <p:nvSpPr>
          <p:cNvPr id="21" name="Shape 19"/>
          <p:cNvSpPr/>
          <p:nvPr/>
        </p:nvSpPr>
        <p:spPr>
          <a:xfrm>
            <a:off x="8641080" y="3447288"/>
            <a:ext cx="128016" cy="128016"/>
          </a:xfrm>
          <a:prstGeom prst="rect">
            <a:avLst/>
          </a:prstGeom>
          <a:solidFill>
            <a:schemeClr val="accent1"/>
          </a:solidFill>
          <a:ln w="12700">
            <a:solidFill>
              <a:schemeClr val="accent1"/>
            </a:solidFill>
            <a:prstDash val="solid"/>
          </a:ln>
        </p:spPr>
      </p:sp>
      <p:sp>
        <p:nvSpPr>
          <p:cNvPr id="22" name="Text 20"/>
          <p:cNvSpPr txBox="1"/>
          <p:nvPr/>
        </p:nvSpPr>
        <p:spPr>
          <a:xfrm>
            <a:off x="8851392" y="3383280"/>
            <a:ext cx="2496312" cy="256032"/>
          </a:xfrm>
          <a:prstGeom prst="rect">
            <a:avLst/>
          </a:prstGeom>
          <a:noFill/>
          <a:ln/>
        </p:spPr>
        <p:txBody>
          <a:bodyPr wrap="square" lIns="0" tIns="0" rIns="0" bIns="0" rtlCol="0" anchor="ctr"/>
          <a:lstStyle/>
          <a:p>
            <a:pPr indent="0" marL="0">
              <a:buNone/>
            </a:pPr>
            <a:r>
              <a:rPr lang="en-US" sz="1100" b="1" dirty="0">
                <a:solidFill>
                  <a:schemeClr val="tx2"/>
                </a:solidFill>
              </a:rPr>
              <a:t>LIGHTWEIGHT / EFFICIENT</a:t>
            </a:r>
            <a:endParaRPr lang="en-US" sz="1100" dirty="0"/>
          </a:p>
        </p:txBody>
      </p:sp>
      <p:sp>
        <p:nvSpPr>
          <p:cNvPr id="23" name="Text 21"/>
          <p:cNvSpPr txBox="1"/>
          <p:nvPr/>
        </p:nvSpPr>
        <p:spPr>
          <a:xfrm>
            <a:off x="8641080" y="3657600"/>
            <a:ext cx="731520" cy="320040"/>
          </a:xfrm>
          <a:prstGeom prst="rect">
            <a:avLst/>
          </a:prstGeom>
          <a:noFill/>
          <a:ln/>
        </p:spPr>
        <p:txBody>
          <a:bodyPr wrap="square" lIns="0" tIns="0" rIns="0" bIns="0" rtlCol="0" anchor="ctr"/>
          <a:lstStyle/>
          <a:p>
            <a:pPr indent="0" marL="0">
              <a:buNone/>
            </a:pPr>
            <a:r>
              <a:rPr lang="en-US" sz="2000" b="1" dirty="0">
                <a:solidFill>
                  <a:schemeClr val="tx1"/>
                </a:solidFill>
              </a:rPr>
              <a:t>GRU</a:t>
            </a:r>
            <a:endParaRPr lang="en-US" sz="2000" dirty="0"/>
          </a:p>
        </p:txBody>
      </p:sp>
      <p:sp>
        <p:nvSpPr>
          <p:cNvPr id="24" name="Text 22"/>
          <p:cNvSpPr txBox="1"/>
          <p:nvPr/>
        </p:nvSpPr>
        <p:spPr>
          <a:xfrm>
            <a:off x="8641080" y="3986784"/>
            <a:ext cx="2679192" cy="457200"/>
          </a:xfrm>
          <a:prstGeom prst="rect">
            <a:avLst/>
          </a:prstGeom>
          <a:noFill/>
          <a:ln/>
        </p:spPr>
        <p:txBody>
          <a:bodyPr wrap="square" lIns="0" tIns="0" rIns="0" bIns="0" rtlCol="0" anchor="t"/>
          <a:lstStyle/>
          <a:p>
            <a:pPr indent="0" marL="0">
              <a:buNone/>
            </a:pPr>
            <a:r>
              <a:rPr lang="en-US" sz="1300" dirty="0">
                <a:solidFill>
                  <a:schemeClr val="tx1"/>
                </a:solidFill>
              </a:rPr>
              <a:t>40,129 params; beats LSTM on MAE, RMSE, R².</a:t>
            </a:r>
            <a:endParaRPr lang="en-US" sz="1300" dirty="0"/>
          </a:p>
        </p:txBody>
      </p:sp>
      <p:sp>
        <p:nvSpPr>
          <p:cNvPr id="25" name="Text 23"/>
          <p:cNvSpPr txBox="1"/>
          <p:nvPr/>
        </p:nvSpPr>
        <p:spPr>
          <a:xfrm>
            <a:off x="8503920" y="4617720"/>
            <a:ext cx="2953512" cy="1600200"/>
          </a:xfrm>
          <a:prstGeom prst="rect">
            <a:avLst/>
          </a:prstGeom>
          <a:noFill/>
          <a:ln/>
        </p:spPr>
        <p:txBody>
          <a:bodyPr wrap="square" lIns="0" tIns="0" rIns="0" bIns="0" rtlCol="0" anchor="t"/>
          <a:lstStyle/>
          <a:p>
            <a:pPr indent="0" marL="0">
              <a:buNone/>
            </a:pPr>
            <a:r>
              <a:rPr lang="en-US" sz="1500" b="1" dirty="0">
                <a:solidFill>
                  <a:schemeClr val="tx1"/>
                </a:solidFill>
              </a:rPr>
              <a:t>Next: </a:t>
            </a:r>
            <a:r>
              <a:rPr lang="en-US" sz="1500" dirty="0">
                <a:solidFill>
                  <a:schemeClr val="tx1"/>
                </a:solidFill>
              </a:rPr>
              <a:t>take TCN and GRU into deeper experiments — record timing and model size, use one MAPE definition, and diagnose the flat-band predictions and early overfitting.</a:t>
            </a:r>
            <a:endParaRPr lang="en-US" sz="1500" dirty="0"/>
          </a:p>
        </p:txBody>
      </p:sp>
      <p:sp>
        <p:nvSpPr>
          <p:cNvPr id="25" name="Slide Number Placeholder 0"/>
          <p:cNvSpPr>
            <a:spLocks noGrp="1"/>
          </p:cNvSpPr>
          <p:nvPr>
            <p:ph type="sldNum" sz="quarter" idx="4294967295"/>
          </p:nvPr>
        </p:nvSpPr>
        <p:spPr>
          <a:xfrm>
            <a:off x="11091672"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SoH Mentor Review">
  <a:themeElements>
    <a:clrScheme name="SoH Mentor Review">
      <a:dk1>
        <a:srgbClr val="1F2933"/>
      </a:dk1>
      <a:lt1>
        <a:srgbClr val="FFFFFF"/>
      </a:lt1>
      <a:dk2>
        <a:srgbClr val="3E4C59"/>
      </a:dk2>
      <a:lt2>
        <a:srgbClr val="F3F5F7"/>
      </a:lt2>
      <a:accent1>
        <a:srgbClr val="1F7A70"/>
      </a:accent1>
      <a:accent2>
        <a:srgbClr val="D9822B"/>
      </a:accent2>
      <a:accent3>
        <a:srgbClr val="5B6B7C"/>
      </a:accent3>
      <a:accent4>
        <a:srgbClr val="B3261E"/>
      </a:accent4>
      <a:accent5>
        <a:srgbClr val="8FA3B5"/>
      </a:accent5>
      <a:accent6>
        <a:srgbClr val="E4E8EC"/>
      </a:accent6>
      <a:hlink>
        <a:srgbClr val="1F7A70"/>
      </a:hlink>
      <a:folHlink>
        <a:srgbClr val="5B6B7C"/>
      </a:folHlink>
    </a:clrScheme>
    <a:fontScheme name="SoH Mentor Revie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SoH Estimation - Day 18 Mentor Review</dc:title>
  <dc:subject>PptxGenJS Presentation</dc:subject>
  <dc:creator>PptxGenJS</dc:creator>
  <cp:lastModifiedBy>PptxGenJS</cp:lastModifiedBy>
  <cp:revision>1</cp:revision>
  <dcterms:created xsi:type="dcterms:W3CDTF">2026-10-12T05:19:38Z</dcterms:created>
  <dcterms:modified xsi:type="dcterms:W3CDTF">2026-10-12T05:19:38Z</dcterms:modified>
</cp:coreProperties>
</file>